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Barlow" panose="00000500000000000000" pitchFamily="2" charset="0"/>
      <p:regular r:id="rId19"/>
      <p:bold r:id="rId20"/>
      <p:italic r:id="rId21"/>
      <p:boldItalic r:id="rId22"/>
    </p:embeddedFont>
    <p:embeddedFont>
      <p:font typeface="Franklin Gothic" panose="020B0604020202020204" charset="0"/>
      <p:bold r:id="rId23"/>
    </p:embeddedFont>
    <p:embeddedFont>
      <p:font typeface="Montserrat" panose="00000500000000000000" pitchFamily="2" charset="0"/>
      <p:regular r:id="rId24"/>
      <p:bold r:id="rId25"/>
      <p:italic r:id="rId26"/>
      <p:boldItalic r:id="rId27"/>
    </p:embeddedFont>
    <p:embeddedFont>
      <p:font typeface="Play" panose="020B0604020202020204"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4" name="Google Shape;33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9" name="Google Shape;38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27"/>
        <p:cNvGrpSpPr/>
        <p:nvPr/>
      </p:nvGrpSpPr>
      <p:grpSpPr>
        <a:xfrm>
          <a:off x="0" y="0"/>
          <a:ext cx="0" cy="0"/>
          <a:chOff x="0" y="0"/>
          <a:chExt cx="0" cy="0"/>
        </a:xfrm>
      </p:grpSpPr>
      <p:pic>
        <p:nvPicPr>
          <p:cNvPr id="28" name="Google Shape;28;p4" descr="preencode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9" name="Google Shape;29;p4"/>
          <p:cNvSpPr/>
          <p:nvPr/>
        </p:nvSpPr>
        <p:spPr>
          <a:xfrm>
            <a:off x="0" y="0"/>
            <a:ext cx="12192000" cy="6858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0" name="Google Shape;30;p4" descr="preencoded.png">
            <a:hlinkClick r:id="rId3"/>
          </p:cNvPr>
          <p:cNvPicPr preferRelativeResize="0"/>
          <p:nvPr/>
        </p:nvPicPr>
        <p:blipFill rotWithShape="1">
          <a:blip r:embed="rId4">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31"/>
        <p:cNvGrpSpPr/>
        <p:nvPr/>
      </p:nvGrpSpPr>
      <p:grpSpPr>
        <a:xfrm>
          <a:off x="0" y="0"/>
          <a:ext cx="0" cy="0"/>
          <a:chOff x="0" y="0"/>
          <a:chExt cx="0" cy="0"/>
        </a:xfrm>
      </p:grpSpPr>
      <p:pic>
        <p:nvPicPr>
          <p:cNvPr id="32" name="Google Shape;32;p5" descr="preencode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3" name="Google Shape;33;p5"/>
          <p:cNvSpPr/>
          <p:nvPr/>
        </p:nvSpPr>
        <p:spPr>
          <a:xfrm>
            <a:off x="0" y="0"/>
            <a:ext cx="12192000" cy="6858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4" name="Google Shape;34;p5" descr="preencoded.png">
            <a:hlinkClick r:id="rId3"/>
          </p:cNvPr>
          <p:cNvPicPr preferRelativeResize="0"/>
          <p:nvPr/>
        </p:nvPicPr>
        <p:blipFill rotWithShape="1">
          <a:blip r:embed="rId4">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35"/>
        <p:cNvGrpSpPr/>
        <p:nvPr/>
      </p:nvGrpSpPr>
      <p:grpSpPr>
        <a:xfrm>
          <a:off x="0" y="0"/>
          <a:ext cx="0" cy="0"/>
          <a:chOff x="0" y="0"/>
          <a:chExt cx="0" cy="0"/>
        </a:xfrm>
      </p:grpSpPr>
      <p:pic>
        <p:nvPicPr>
          <p:cNvPr id="36" name="Google Shape;36;p6" descr="preencode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7" name="Google Shape;37;p6"/>
          <p:cNvSpPr/>
          <p:nvPr/>
        </p:nvSpPr>
        <p:spPr>
          <a:xfrm>
            <a:off x="0" y="0"/>
            <a:ext cx="12192000" cy="6858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 name="Google Shape;38;p6" descr="preencoded.png">
            <a:hlinkClick r:id="rId3"/>
          </p:cNvPr>
          <p:cNvPicPr preferRelativeResize="0"/>
          <p:nvPr/>
        </p:nvPicPr>
        <p:blipFill rotWithShape="1">
          <a:blip r:embed="rId4">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39"/>
        <p:cNvGrpSpPr/>
        <p:nvPr/>
      </p:nvGrpSpPr>
      <p:grpSpPr>
        <a:xfrm>
          <a:off x="0" y="0"/>
          <a:ext cx="0" cy="0"/>
          <a:chOff x="0" y="0"/>
          <a:chExt cx="0" cy="0"/>
        </a:xfrm>
      </p:grpSpPr>
      <p:pic>
        <p:nvPicPr>
          <p:cNvPr id="40" name="Google Shape;40;p7" descr="preencode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1" name="Google Shape;41;p7"/>
          <p:cNvSpPr/>
          <p:nvPr/>
        </p:nvSpPr>
        <p:spPr>
          <a:xfrm>
            <a:off x="0" y="0"/>
            <a:ext cx="12192000" cy="6858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2" name="Google Shape;42;p7" descr="preencoded.png">
            <a:hlinkClick r:id="rId3"/>
          </p:cNvPr>
          <p:cNvPicPr preferRelativeResize="0"/>
          <p:nvPr/>
        </p:nvPicPr>
        <p:blipFill rotWithShape="1">
          <a:blip r:embed="rId4">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43"/>
        <p:cNvGrpSpPr/>
        <p:nvPr/>
      </p:nvGrpSpPr>
      <p:grpSpPr>
        <a:xfrm>
          <a:off x="0" y="0"/>
          <a:ext cx="0" cy="0"/>
          <a:chOff x="0" y="0"/>
          <a:chExt cx="0" cy="0"/>
        </a:xfrm>
      </p:grpSpPr>
      <p:pic>
        <p:nvPicPr>
          <p:cNvPr id="44" name="Google Shape;44;p8" descr="preencode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5" name="Google Shape;45;p8"/>
          <p:cNvSpPr/>
          <p:nvPr/>
        </p:nvSpPr>
        <p:spPr>
          <a:xfrm>
            <a:off x="0" y="0"/>
            <a:ext cx="12192000" cy="6858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6" name="Google Shape;46;p8" descr="preencoded.png">
            <a:hlinkClick r:id="rId3"/>
          </p:cNvPr>
          <p:cNvPicPr preferRelativeResize="0"/>
          <p:nvPr/>
        </p:nvPicPr>
        <p:blipFill rotWithShape="1">
          <a:blip r:embed="rId4">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47"/>
        <p:cNvGrpSpPr/>
        <p:nvPr/>
      </p:nvGrpSpPr>
      <p:grpSpPr>
        <a:xfrm>
          <a:off x="0" y="0"/>
          <a:ext cx="0" cy="0"/>
          <a:chOff x="0" y="0"/>
          <a:chExt cx="0" cy="0"/>
        </a:xfrm>
      </p:grpSpPr>
      <p:pic>
        <p:nvPicPr>
          <p:cNvPr id="48" name="Google Shape;48;p9" descr="preencode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9" name="Google Shape;49;p9"/>
          <p:cNvSpPr/>
          <p:nvPr/>
        </p:nvSpPr>
        <p:spPr>
          <a:xfrm>
            <a:off x="0" y="0"/>
            <a:ext cx="12192000" cy="6858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 name="Google Shape;50;p9" descr="preencoded.png">
            <a:hlinkClick r:id="rId3"/>
          </p:cNvPr>
          <p:cNvPicPr preferRelativeResize="0"/>
          <p:nvPr/>
        </p:nvPicPr>
        <p:blipFill rotWithShape="1">
          <a:blip r:embed="rId4">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51"/>
        <p:cNvGrpSpPr/>
        <p:nvPr/>
      </p:nvGrpSpPr>
      <p:grpSpPr>
        <a:xfrm>
          <a:off x="0" y="0"/>
          <a:ext cx="0" cy="0"/>
          <a:chOff x="0" y="0"/>
          <a:chExt cx="0" cy="0"/>
        </a:xfrm>
      </p:grpSpPr>
      <p:pic>
        <p:nvPicPr>
          <p:cNvPr id="52" name="Google Shape;52;p10" descr="preencode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3" name="Google Shape;53;p10"/>
          <p:cNvSpPr/>
          <p:nvPr/>
        </p:nvSpPr>
        <p:spPr>
          <a:xfrm>
            <a:off x="0" y="0"/>
            <a:ext cx="12192000" cy="6858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4" name="Google Shape;54;p10" descr="preencoded.png">
            <a:hlinkClick r:id="rId3"/>
          </p:cNvPr>
          <p:cNvPicPr preferRelativeResize="0"/>
          <p:nvPr/>
        </p:nvPicPr>
        <p:blipFill rotWithShape="1">
          <a:blip r:embed="rId4">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55"/>
        <p:cNvGrpSpPr/>
        <p:nvPr/>
      </p:nvGrpSpPr>
      <p:grpSpPr>
        <a:xfrm>
          <a:off x="0" y="0"/>
          <a:ext cx="0" cy="0"/>
          <a:chOff x="0" y="0"/>
          <a:chExt cx="0" cy="0"/>
        </a:xfrm>
      </p:grpSpPr>
      <p:pic>
        <p:nvPicPr>
          <p:cNvPr id="56" name="Google Shape;56;p11" descr="preencode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7" name="Google Shape;57;p11"/>
          <p:cNvSpPr/>
          <p:nvPr/>
        </p:nvSpPr>
        <p:spPr>
          <a:xfrm>
            <a:off x="0" y="0"/>
            <a:ext cx="12192000" cy="6858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8" name="Google Shape;58;p11" descr="preencoded.png">
            <a:hlinkClick r:id="rId3"/>
          </p:cNvPr>
          <p:cNvPicPr preferRelativeResize="0"/>
          <p:nvPr/>
        </p:nvPicPr>
        <p:blipFill rotWithShape="1">
          <a:blip r:embed="rId4">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59"/>
        <p:cNvGrpSpPr/>
        <p:nvPr/>
      </p:nvGrpSpPr>
      <p:grpSpPr>
        <a:xfrm>
          <a:off x="0" y="0"/>
          <a:ext cx="0" cy="0"/>
          <a:chOff x="0" y="0"/>
          <a:chExt cx="0" cy="0"/>
        </a:xfrm>
      </p:grpSpPr>
      <p:pic>
        <p:nvPicPr>
          <p:cNvPr id="60" name="Google Shape;60;p12" descr="preencode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1" name="Google Shape;61;p12"/>
          <p:cNvSpPr/>
          <p:nvPr/>
        </p:nvSpPr>
        <p:spPr>
          <a:xfrm>
            <a:off x="0" y="0"/>
            <a:ext cx="12192000" cy="6858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2" name="Google Shape;62;p12" descr="preencoded.png">
            <a:hlinkClick r:id="rId3"/>
          </p:cNvPr>
          <p:cNvPicPr preferRelativeResize="0"/>
          <p:nvPr/>
        </p:nvPicPr>
        <p:blipFill rotWithShape="1">
          <a:blip r:embed="rId4">
            <a:alphaModFix/>
          </a:blip>
          <a:srcRect/>
          <a:stretch/>
        </p:blipFill>
        <p:spPr>
          <a:xfrm>
            <a:off x="10699346" y="6457950"/>
            <a:ext cx="1435504" cy="3429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3"/>
        <p:cNvGrpSpPr/>
        <p:nvPr/>
      </p:nvGrpSpPr>
      <p:grpSpPr>
        <a:xfrm>
          <a:off x="0" y="0"/>
          <a:ext cx="0" cy="0"/>
          <a:chOff x="0" y="0"/>
          <a:chExt cx="0" cy="0"/>
        </a:xfrm>
      </p:grpSpPr>
      <p:sp>
        <p:nvSpPr>
          <p:cNvPr id="64" name="Google Shape;64;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66" name="Google Shape;66;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9" name="Google Shape;79;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1" name="Google Shape;81;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5"/>
        <p:cNvGrpSpPr/>
        <p:nvPr/>
      </p:nvGrpSpPr>
      <p:grpSpPr>
        <a:xfrm>
          <a:off x="0" y="0"/>
          <a:ext cx="0" cy="0"/>
          <a:chOff x="0" y="0"/>
          <a:chExt cx="0" cy="0"/>
        </a:xfrm>
      </p:grpSpPr>
      <p:sp>
        <p:nvSpPr>
          <p:cNvPr id="86" name="Google Shape;8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7" name="Google Shape;97;p1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8" name="Google Shape;9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19"/>
          <p:cNvSpPr>
            <a:spLocks noGrp="1"/>
          </p:cNvSpPr>
          <p:nvPr>
            <p:ph type="pic" idx="2"/>
          </p:nvPr>
        </p:nvSpPr>
        <p:spPr>
          <a:xfrm>
            <a:off x="5183188" y="987425"/>
            <a:ext cx="6172200" cy="4873625"/>
          </a:xfrm>
          <a:prstGeom prst="rect">
            <a:avLst/>
          </a:prstGeom>
          <a:noFill/>
          <a:ln>
            <a:noFill/>
          </a:ln>
        </p:spPr>
      </p:sp>
      <p:sp>
        <p:nvSpPr>
          <p:cNvPr id="104" name="Google Shape;104;p1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5" name="Google Shape;10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2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2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image" Target="../media/image51.png"/><Relationship Id="rId11" Type="http://schemas.openxmlformats.org/officeDocument/2006/relationships/image" Target="../media/image10.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p:nvPr/>
        </p:nvSpPr>
        <p:spPr>
          <a:xfrm>
            <a:off x="601504" y="246539"/>
            <a:ext cx="10983600" cy="831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sng" strike="noStrike" cap="none">
                <a:solidFill>
                  <a:srgbClr val="1E5C96"/>
                </a:solidFill>
                <a:latin typeface="Franklin Gothic"/>
                <a:ea typeface="Franklin Gothic"/>
                <a:cs typeface="Franklin Gothic"/>
                <a:sym typeface="Franklin Gothic"/>
              </a:rPr>
              <a:t>S</a:t>
            </a:r>
            <a:r>
              <a:rPr lang="en-US" sz="2400" b="1" u="sng">
                <a:solidFill>
                  <a:srgbClr val="1E5C96"/>
                </a:solidFill>
                <a:latin typeface="Franklin Gothic"/>
                <a:ea typeface="Franklin Gothic"/>
                <a:cs typeface="Franklin Gothic"/>
                <a:sym typeface="Franklin Gothic"/>
              </a:rPr>
              <a:t>PRINT(Smart Precision Remote Irrigation Network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1" i="0" u="sng" strike="noStrike" cap="none">
                <a:solidFill>
                  <a:srgbClr val="1E5C96"/>
                </a:solidFill>
                <a:latin typeface="Franklin Gothic"/>
                <a:ea typeface="Franklin Gothic"/>
                <a:cs typeface="Franklin Gothic"/>
                <a:sym typeface="Franklin Gothic"/>
              </a:rPr>
              <a:t>A Remote and Timer-Controlled Spraying System for Precision Agriculture</a:t>
            </a:r>
            <a:endParaRPr sz="1400" b="0" i="0" u="none" strike="noStrike" cap="none">
              <a:solidFill>
                <a:srgbClr val="000000"/>
              </a:solidFill>
              <a:latin typeface="Arial"/>
              <a:ea typeface="Arial"/>
              <a:cs typeface="Arial"/>
              <a:sym typeface="Arial"/>
            </a:endParaRPr>
          </a:p>
        </p:txBody>
      </p:sp>
      <p:pic>
        <p:nvPicPr>
          <p:cNvPr id="125" name="Google Shape;125;p22" descr="Delhi Technological University - Wikipedia"/>
          <p:cNvPicPr preferRelativeResize="0"/>
          <p:nvPr/>
        </p:nvPicPr>
        <p:blipFill rotWithShape="1">
          <a:blip r:embed="rId3">
            <a:alphaModFix/>
          </a:blip>
          <a:srcRect/>
          <a:stretch/>
        </p:blipFill>
        <p:spPr>
          <a:xfrm>
            <a:off x="598784" y="1712560"/>
            <a:ext cx="4007281" cy="4014063"/>
          </a:xfrm>
          <a:prstGeom prst="rect">
            <a:avLst/>
          </a:prstGeom>
          <a:noFill/>
          <a:ln>
            <a:noFill/>
          </a:ln>
        </p:spPr>
      </p:pic>
      <p:sp>
        <p:nvSpPr>
          <p:cNvPr id="126" name="Google Shape;126;p22"/>
          <p:cNvSpPr txBox="1"/>
          <p:nvPr/>
        </p:nvSpPr>
        <p:spPr>
          <a:xfrm>
            <a:off x="5602435" y="1497626"/>
            <a:ext cx="5511000"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GB" sz="1400" b="0" i="0" u="none" strike="noStrike" cap="none" dirty="0">
                <a:solidFill>
                  <a:srgbClr val="000000"/>
                </a:solidFill>
                <a:latin typeface="Arial"/>
                <a:ea typeface="Arial"/>
                <a:cs typeface="Arial"/>
                <a:sym typeface="Arial"/>
              </a:rPr>
              <a:t>BTECH PROJECT</a:t>
            </a:r>
          </a:p>
        </p:txBody>
      </p:sp>
      <p:sp>
        <p:nvSpPr>
          <p:cNvPr id="127" name="Google Shape;127;p22"/>
          <p:cNvSpPr txBox="1"/>
          <p:nvPr/>
        </p:nvSpPr>
        <p:spPr>
          <a:xfrm>
            <a:off x="5602434" y="2796191"/>
            <a:ext cx="55110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Under the Supervision of</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Dr. Yashna Sharma</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Assistant Professor</a:t>
            </a:r>
            <a:endParaRPr sz="1400" b="0" i="0" u="none" strike="noStrike" cap="none" dirty="0">
              <a:solidFill>
                <a:srgbClr val="000000"/>
              </a:solidFill>
              <a:latin typeface="Arial"/>
              <a:ea typeface="Arial"/>
              <a:cs typeface="Arial"/>
              <a:sym typeface="Arial"/>
            </a:endParaRPr>
          </a:p>
        </p:txBody>
      </p:sp>
      <p:sp>
        <p:nvSpPr>
          <p:cNvPr id="128" name="Google Shape;128;p22"/>
          <p:cNvSpPr txBox="1"/>
          <p:nvPr/>
        </p:nvSpPr>
        <p:spPr>
          <a:xfrm>
            <a:off x="5602434" y="4767938"/>
            <a:ext cx="5511000" cy="1200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Submitted By: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Times New Roman"/>
                <a:ea typeface="Times New Roman"/>
                <a:cs typeface="Times New Roman"/>
                <a:sym typeface="Times New Roman"/>
              </a:rPr>
              <a:t>Anurag Kumar(2K22/EC/046)</a:t>
            </a:r>
            <a:endParaRPr sz="18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Times New Roman"/>
                <a:ea typeface="Times New Roman"/>
                <a:cs typeface="Times New Roman"/>
                <a:sym typeface="Times New Roman"/>
              </a:rPr>
              <a:t>Chirag Sikriwal (2K22/EC/075)</a:t>
            </a:r>
            <a:endParaRPr sz="1800"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Times New Roman"/>
                <a:ea typeface="Times New Roman"/>
                <a:cs typeface="Times New Roman"/>
                <a:sym typeface="Times New Roman"/>
              </a:rPr>
              <a:t>Devayush Devandra(2K22/EC/088)</a:t>
            </a:r>
            <a:endParaRPr sz="18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2"/>
        <p:cNvGrpSpPr/>
        <p:nvPr/>
      </p:nvGrpSpPr>
      <p:grpSpPr>
        <a:xfrm>
          <a:off x="0" y="0"/>
          <a:ext cx="0" cy="0"/>
          <a:chOff x="0" y="0"/>
          <a:chExt cx="0" cy="0"/>
        </a:xfrm>
      </p:grpSpPr>
      <p:sp>
        <p:nvSpPr>
          <p:cNvPr id="133" name="Google Shape;133;p23"/>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4" name="Google Shape;134;p23"/>
          <p:cNvSpPr txBox="1">
            <a:spLocks noGrp="1"/>
          </p:cNvSpPr>
          <p:nvPr>
            <p:ph type="title"/>
          </p:nvPr>
        </p:nvSpPr>
        <p:spPr>
          <a:xfrm>
            <a:off x="640080" y="325369"/>
            <a:ext cx="4368602" cy="1956841"/>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400"/>
              <a:buFont typeface="Play"/>
              <a:buNone/>
            </a:pPr>
            <a:r>
              <a:rPr lang="en-US" sz="5400"/>
              <a:t>Introduction</a:t>
            </a:r>
            <a:endParaRPr/>
          </a:p>
        </p:txBody>
      </p:sp>
      <p:sp>
        <p:nvSpPr>
          <p:cNvPr id="135" name="Google Shape;135;p23"/>
          <p:cNvSpPr/>
          <p:nvPr/>
        </p:nvSpPr>
        <p:spPr>
          <a:xfrm>
            <a:off x="640080" y="2586994"/>
            <a:ext cx="3474720" cy="18288"/>
          </a:xfrm>
          <a:custGeom>
            <a:avLst/>
            <a:gdLst/>
            <a:ahLst/>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6" name="Google Shape;136;p23"/>
          <p:cNvSpPr txBox="1">
            <a:spLocks noGrp="1"/>
          </p:cNvSpPr>
          <p:nvPr>
            <p:ph type="body" idx="1"/>
          </p:nvPr>
        </p:nvSpPr>
        <p:spPr>
          <a:xfrm>
            <a:off x="640080" y="2872899"/>
            <a:ext cx="5050412" cy="2031992"/>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00000"/>
              </a:lnSpc>
              <a:spcBef>
                <a:spcPts val="0"/>
              </a:spcBef>
              <a:spcAft>
                <a:spcPts val="0"/>
              </a:spcAft>
              <a:buClr>
                <a:srgbClr val="384653"/>
              </a:buClr>
              <a:buSzPct val="100000"/>
              <a:buNone/>
            </a:pPr>
            <a:r>
              <a:rPr lang="en-US" sz="1700">
                <a:solidFill>
                  <a:srgbClr val="384653"/>
                </a:solidFill>
                <a:latin typeface="Montserrat"/>
                <a:ea typeface="Montserrat"/>
                <a:cs typeface="Montserrat"/>
                <a:sym typeface="Montserrat"/>
              </a:rPr>
              <a:t>Welcome to the presentation on SPRINT, a remote and timer-controlled smart spraying system designed to revolutionise precision agriculture. This system addresses critical challenges in traditional farming practices, offering an automated, efficient, and sustainable solution for applying water, fertilisers, and pesticides.</a:t>
            </a:r>
            <a:endParaRPr sz="1700">
              <a:latin typeface="Montserrat"/>
              <a:ea typeface="Montserrat"/>
              <a:cs typeface="Montserrat"/>
              <a:sym typeface="Montserrat"/>
            </a:endParaRPr>
          </a:p>
          <a:p>
            <a:pPr marL="228600" lvl="0" indent="-88900" algn="l" rtl="0">
              <a:lnSpc>
                <a:spcPct val="90000"/>
              </a:lnSpc>
              <a:spcBef>
                <a:spcPts val="1000"/>
              </a:spcBef>
              <a:spcAft>
                <a:spcPts val="0"/>
              </a:spcAft>
              <a:buClr>
                <a:schemeClr val="dk1"/>
              </a:buClr>
              <a:buSzPct val="100000"/>
              <a:buNone/>
            </a:pPr>
            <a:endParaRPr sz="2200"/>
          </a:p>
        </p:txBody>
      </p:sp>
      <p:pic>
        <p:nvPicPr>
          <p:cNvPr id="137" name="Google Shape;137;p23" descr="Spraying Field Images – Browse 124,096 Stock Photos, Vectors, and Video |  Adobe Stock"/>
          <p:cNvPicPr preferRelativeResize="0"/>
          <p:nvPr/>
        </p:nvPicPr>
        <p:blipFill rotWithShape="1">
          <a:blip r:embed="rId3">
            <a:alphaModFix/>
          </a:blip>
          <a:srcRect l="33048" r="-1" b="-1"/>
          <a:stretch/>
        </p:blipFill>
        <p:spPr>
          <a:xfrm>
            <a:off x="6096114" y="10"/>
            <a:ext cx="6878775" cy="6857990"/>
          </a:xfrm>
          <a:custGeom>
            <a:avLst/>
            <a:gdLst/>
            <a:ahLst/>
            <a:cxnLst/>
            <a:rect l="l" t="t" r="r" b="b"/>
            <a:pathLst>
              <a:path w="6878775" h="6858000" extrusionOk="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
        <p:nvSpPr>
          <p:cNvPr id="138" name="Google Shape;138;p23"/>
          <p:cNvSpPr txBox="1"/>
          <p:nvPr/>
        </p:nvSpPr>
        <p:spPr>
          <a:xfrm>
            <a:off x="635598" y="5132005"/>
            <a:ext cx="5050412" cy="203199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384653"/>
              </a:buClr>
              <a:buSzPts val="1700"/>
              <a:buFont typeface="Arial"/>
              <a:buNone/>
            </a:pPr>
            <a:r>
              <a:rPr lang="en-US" sz="1700" b="0" i="0" u="none" strike="noStrike" cap="none">
                <a:solidFill>
                  <a:srgbClr val="384653"/>
                </a:solidFill>
                <a:latin typeface="Montserrat"/>
                <a:ea typeface="Montserrat"/>
                <a:cs typeface="Montserrat"/>
                <a:sym typeface="Montserrat"/>
              </a:rPr>
              <a:t>Join us as we explore the problem statement, the innovative technology behind </a:t>
            </a:r>
            <a:r>
              <a:rPr lang="en-US" sz="1700">
                <a:solidFill>
                  <a:srgbClr val="384653"/>
                </a:solidFill>
                <a:latin typeface="Montserrat"/>
                <a:ea typeface="Montserrat"/>
                <a:cs typeface="Montserrat"/>
                <a:sym typeface="Montserrat"/>
              </a:rPr>
              <a:t>SPRINT</a:t>
            </a:r>
            <a:r>
              <a:rPr lang="en-US" sz="1700" b="0" i="0" u="none" strike="noStrike" cap="none">
                <a:solidFill>
                  <a:srgbClr val="384653"/>
                </a:solidFill>
                <a:latin typeface="Montserrat"/>
                <a:ea typeface="Montserrat"/>
                <a:cs typeface="Montserrat"/>
                <a:sym typeface="Montserrat"/>
              </a:rPr>
              <a:t>, and its potential to transform agricultural operations in India and beyond.</a:t>
            </a:r>
            <a:endParaRPr sz="1700" b="0" i="0" u="none" strike="noStrike" cap="none">
              <a:solidFill>
                <a:srgbClr val="000000"/>
              </a:solidFill>
              <a:latin typeface="Montserrat"/>
              <a:ea typeface="Montserrat"/>
              <a:cs typeface="Montserrat"/>
              <a:sym typeface="Montserrat"/>
            </a:endParaRPr>
          </a:p>
          <a:p>
            <a:pPr marL="0" marR="0" lvl="0" indent="0" algn="l" rtl="0">
              <a:lnSpc>
                <a:spcPct val="90000"/>
              </a:lnSpc>
              <a:spcBef>
                <a:spcPts val="1000"/>
              </a:spcBef>
              <a:spcAft>
                <a:spcPts val="0"/>
              </a:spcAft>
              <a:buClr>
                <a:schemeClr val="dk1"/>
              </a:buClr>
              <a:buSzPts val="1700"/>
              <a:buFont typeface="Arial"/>
              <a:buNone/>
            </a:pPr>
            <a:endParaRPr sz="1700" b="0" i="0" u="none" strike="noStrike" cap="none">
              <a:solidFill>
                <a:srgbClr val="384653"/>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24" descr="preencoded.png"/>
          <p:cNvPicPr preferRelativeResize="0"/>
          <p:nvPr/>
        </p:nvPicPr>
        <p:blipFill rotWithShape="1">
          <a:blip r:embed="rId3">
            <a:alphaModFix/>
          </a:blip>
          <a:srcRect/>
          <a:stretch/>
        </p:blipFill>
        <p:spPr>
          <a:xfrm>
            <a:off x="7391400" y="0"/>
            <a:ext cx="4800600" cy="6858000"/>
          </a:xfrm>
          <a:prstGeom prst="rect">
            <a:avLst/>
          </a:prstGeom>
          <a:noFill/>
          <a:ln>
            <a:noFill/>
          </a:ln>
        </p:spPr>
      </p:pic>
      <p:sp>
        <p:nvSpPr>
          <p:cNvPr id="145" name="Google Shape;145;p24"/>
          <p:cNvSpPr/>
          <p:nvPr/>
        </p:nvSpPr>
        <p:spPr>
          <a:xfrm>
            <a:off x="631924" y="755948"/>
            <a:ext cx="4751288" cy="593923"/>
          </a:xfrm>
          <a:prstGeom prst="rect">
            <a:avLst/>
          </a:prstGeom>
          <a:noFill/>
          <a:ln>
            <a:noFill/>
          </a:ln>
        </p:spPr>
        <p:txBody>
          <a:bodyPr spcFirstLastPara="1" wrap="square" lIns="0" tIns="0" rIns="0" bIns="0" anchor="t" anchorCtr="0">
            <a:noAutofit/>
          </a:bodyPr>
          <a:lstStyle/>
          <a:p>
            <a:pPr marL="0" marR="0" lvl="0" indent="0" algn="l" rtl="0">
              <a:lnSpc>
                <a:spcPct val="125836"/>
              </a:lnSpc>
              <a:spcBef>
                <a:spcPts val="0"/>
              </a:spcBef>
              <a:spcAft>
                <a:spcPts val="0"/>
              </a:spcAft>
              <a:buClr>
                <a:srgbClr val="2E3C4E"/>
              </a:buClr>
              <a:buSzPts val="3708"/>
              <a:buFont typeface="Barlow"/>
              <a:buNone/>
            </a:pPr>
            <a:r>
              <a:rPr lang="en-US" sz="3708" b="1" i="0" u="none" strike="noStrike" cap="none">
                <a:solidFill>
                  <a:srgbClr val="2E3C4E"/>
                </a:solidFill>
                <a:latin typeface="Barlow"/>
                <a:ea typeface="Barlow"/>
                <a:cs typeface="Barlow"/>
                <a:sym typeface="Barlow"/>
              </a:rPr>
              <a:t>Background and Need</a:t>
            </a:r>
            <a:endParaRPr sz="3708" b="0" i="0" u="none" strike="noStrike" cap="none">
              <a:solidFill>
                <a:schemeClr val="dk1"/>
              </a:solidFill>
              <a:latin typeface="Arial"/>
              <a:ea typeface="Arial"/>
              <a:cs typeface="Arial"/>
              <a:sym typeface="Arial"/>
            </a:endParaRPr>
          </a:p>
        </p:txBody>
      </p:sp>
      <p:sp>
        <p:nvSpPr>
          <p:cNvPr id="146" name="Google Shape;146;p24"/>
          <p:cNvSpPr/>
          <p:nvPr/>
        </p:nvSpPr>
        <p:spPr>
          <a:xfrm>
            <a:off x="631924" y="1620639"/>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47" name="Google Shape;147;p24" descr="preencoded.png"/>
          <p:cNvPicPr preferRelativeResize="0"/>
          <p:nvPr/>
        </p:nvPicPr>
        <p:blipFill rotWithShape="1">
          <a:blip r:embed="rId4">
            <a:alphaModFix/>
          </a:blip>
          <a:srcRect/>
          <a:stretch/>
        </p:blipFill>
        <p:spPr>
          <a:xfrm>
            <a:off x="692498" y="1645593"/>
            <a:ext cx="285056" cy="356294"/>
          </a:xfrm>
          <a:prstGeom prst="rect">
            <a:avLst/>
          </a:prstGeom>
          <a:noFill/>
          <a:ln>
            <a:noFill/>
          </a:ln>
        </p:spPr>
      </p:pic>
      <p:sp>
        <p:nvSpPr>
          <p:cNvPr id="148" name="Google Shape;148;p24"/>
          <p:cNvSpPr/>
          <p:nvPr/>
        </p:nvSpPr>
        <p:spPr>
          <a:xfrm>
            <a:off x="1218605" y="1682651"/>
            <a:ext cx="2478583" cy="593725"/>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Manual Spraying Inefficiencies</a:t>
            </a:r>
            <a:endParaRPr sz="1833" b="0" i="0" u="none" strike="noStrike" cap="none">
              <a:solidFill>
                <a:schemeClr val="dk1"/>
              </a:solidFill>
              <a:latin typeface="Arial"/>
              <a:ea typeface="Arial"/>
              <a:cs typeface="Arial"/>
              <a:sym typeface="Arial"/>
            </a:endParaRPr>
          </a:p>
        </p:txBody>
      </p:sp>
      <p:sp>
        <p:nvSpPr>
          <p:cNvPr id="149" name="Google Shape;149;p24"/>
          <p:cNvSpPr/>
          <p:nvPr/>
        </p:nvSpPr>
        <p:spPr>
          <a:xfrm>
            <a:off x="1218605" y="2384623"/>
            <a:ext cx="2478583" cy="20224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Traditional methods are imprecise, leading to overuse or underuse of resources, inconsistent coverage, and potential health hazards from chemical exposure.</a:t>
            </a:r>
            <a:endParaRPr sz="1417" b="0" i="0" u="none" strike="noStrike" cap="none">
              <a:solidFill>
                <a:schemeClr val="dk1"/>
              </a:solidFill>
              <a:latin typeface="Arial"/>
              <a:ea typeface="Arial"/>
              <a:cs typeface="Arial"/>
              <a:sym typeface="Arial"/>
            </a:endParaRPr>
          </a:p>
        </p:txBody>
      </p:sp>
      <p:sp>
        <p:nvSpPr>
          <p:cNvPr id="150" name="Google Shape;150;p24"/>
          <p:cNvSpPr/>
          <p:nvPr/>
        </p:nvSpPr>
        <p:spPr>
          <a:xfrm>
            <a:off x="3922812" y="1620639"/>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51" name="Google Shape;151;p24" descr="preencoded.png"/>
          <p:cNvPicPr preferRelativeResize="0"/>
          <p:nvPr/>
        </p:nvPicPr>
        <p:blipFill rotWithShape="1">
          <a:blip r:embed="rId5">
            <a:alphaModFix/>
          </a:blip>
          <a:srcRect/>
          <a:stretch/>
        </p:blipFill>
        <p:spPr>
          <a:xfrm>
            <a:off x="3983385" y="1645593"/>
            <a:ext cx="285056" cy="356294"/>
          </a:xfrm>
          <a:prstGeom prst="rect">
            <a:avLst/>
          </a:prstGeom>
          <a:noFill/>
          <a:ln>
            <a:noFill/>
          </a:ln>
        </p:spPr>
      </p:pic>
      <p:sp>
        <p:nvSpPr>
          <p:cNvPr id="152" name="Google Shape;152;p24"/>
          <p:cNvSpPr/>
          <p:nvPr/>
        </p:nvSpPr>
        <p:spPr>
          <a:xfrm>
            <a:off x="4509493" y="1682651"/>
            <a:ext cx="2478583" cy="593725"/>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Smart Technology Benefits</a:t>
            </a:r>
            <a:endParaRPr sz="1833" b="0" i="0" u="none" strike="noStrike" cap="none">
              <a:solidFill>
                <a:schemeClr val="dk1"/>
              </a:solidFill>
              <a:latin typeface="Arial"/>
              <a:ea typeface="Arial"/>
              <a:cs typeface="Arial"/>
              <a:sym typeface="Arial"/>
            </a:endParaRPr>
          </a:p>
        </p:txBody>
      </p:sp>
      <p:sp>
        <p:nvSpPr>
          <p:cNvPr id="153" name="Google Shape;153;p24"/>
          <p:cNvSpPr/>
          <p:nvPr/>
        </p:nvSpPr>
        <p:spPr>
          <a:xfrm>
            <a:off x="4509493" y="2384623"/>
            <a:ext cx="2478583" cy="1733550"/>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Automated solutions reduce manual labour, improve resource utilisation, and enhance overall crop health and yield.</a:t>
            </a:r>
            <a:endParaRPr sz="1417" b="0" i="0" u="none" strike="noStrike" cap="none">
              <a:solidFill>
                <a:schemeClr val="dk1"/>
              </a:solidFill>
              <a:latin typeface="Arial"/>
              <a:ea typeface="Arial"/>
              <a:cs typeface="Arial"/>
              <a:sym typeface="Arial"/>
            </a:endParaRPr>
          </a:p>
        </p:txBody>
      </p:sp>
      <p:sp>
        <p:nvSpPr>
          <p:cNvPr id="154" name="Google Shape;154;p24"/>
          <p:cNvSpPr/>
          <p:nvPr/>
        </p:nvSpPr>
        <p:spPr>
          <a:xfrm>
            <a:off x="631924" y="4768156"/>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55" name="Google Shape;155;p24" descr="preencoded.png"/>
          <p:cNvPicPr preferRelativeResize="0"/>
          <p:nvPr/>
        </p:nvPicPr>
        <p:blipFill rotWithShape="1">
          <a:blip r:embed="rId6">
            <a:alphaModFix/>
          </a:blip>
          <a:srcRect/>
          <a:stretch/>
        </p:blipFill>
        <p:spPr>
          <a:xfrm>
            <a:off x="692498" y="4793110"/>
            <a:ext cx="285056" cy="356294"/>
          </a:xfrm>
          <a:prstGeom prst="rect">
            <a:avLst/>
          </a:prstGeom>
          <a:noFill/>
          <a:ln>
            <a:noFill/>
          </a:ln>
        </p:spPr>
      </p:pic>
      <p:sp>
        <p:nvSpPr>
          <p:cNvPr id="156" name="Google Shape;156;p24"/>
          <p:cNvSpPr/>
          <p:nvPr/>
        </p:nvSpPr>
        <p:spPr>
          <a:xfrm>
            <a:off x="1218606" y="4830168"/>
            <a:ext cx="2375594"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IoT for Remote Control</a:t>
            </a:r>
            <a:endParaRPr sz="1833" b="0" i="0" u="none" strike="noStrike" cap="none">
              <a:solidFill>
                <a:schemeClr val="dk1"/>
              </a:solidFill>
              <a:latin typeface="Arial"/>
              <a:ea typeface="Arial"/>
              <a:cs typeface="Arial"/>
              <a:sym typeface="Arial"/>
            </a:endParaRPr>
          </a:p>
        </p:txBody>
      </p:sp>
      <p:sp>
        <p:nvSpPr>
          <p:cNvPr id="157" name="Google Shape;157;p24"/>
          <p:cNvSpPr/>
          <p:nvPr/>
        </p:nvSpPr>
        <p:spPr>
          <a:xfrm>
            <a:off x="1218605" y="5235278"/>
            <a:ext cx="5769471" cy="8667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Integrating IoT allows for real-time, remote operation and monitoring, making farming practices more efficient and accessible.</a:t>
            </a:r>
            <a:endParaRPr sz="1417" b="0" i="0" u="none" strike="noStrike" cap="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25" descr="preencoded.png"/>
          <p:cNvPicPr preferRelativeResize="0"/>
          <p:nvPr/>
        </p:nvPicPr>
        <p:blipFill rotWithShape="1">
          <a:blip r:embed="rId3">
            <a:alphaModFix/>
          </a:blip>
          <a:srcRect/>
          <a:stretch/>
        </p:blipFill>
        <p:spPr>
          <a:xfrm>
            <a:off x="0" y="0"/>
            <a:ext cx="4800600" cy="6858000"/>
          </a:xfrm>
          <a:prstGeom prst="rect">
            <a:avLst/>
          </a:prstGeom>
          <a:noFill/>
          <a:ln>
            <a:noFill/>
          </a:ln>
        </p:spPr>
      </p:pic>
      <p:sp>
        <p:nvSpPr>
          <p:cNvPr id="164" name="Google Shape;164;p25"/>
          <p:cNvSpPr/>
          <p:nvPr/>
        </p:nvSpPr>
        <p:spPr>
          <a:xfrm>
            <a:off x="5203924" y="823516"/>
            <a:ext cx="4751288" cy="593923"/>
          </a:xfrm>
          <a:prstGeom prst="rect">
            <a:avLst/>
          </a:prstGeom>
          <a:noFill/>
          <a:ln>
            <a:noFill/>
          </a:ln>
        </p:spPr>
        <p:txBody>
          <a:bodyPr spcFirstLastPara="1" wrap="square" lIns="0" tIns="0" rIns="0" bIns="0" anchor="t" anchorCtr="0">
            <a:noAutofit/>
          </a:bodyPr>
          <a:lstStyle/>
          <a:p>
            <a:pPr marL="0" marR="0" lvl="0" indent="0" algn="l" rtl="0">
              <a:lnSpc>
                <a:spcPct val="125836"/>
              </a:lnSpc>
              <a:spcBef>
                <a:spcPts val="0"/>
              </a:spcBef>
              <a:spcAft>
                <a:spcPts val="0"/>
              </a:spcAft>
              <a:buClr>
                <a:srgbClr val="2E3C4E"/>
              </a:buClr>
              <a:buSzPts val="3708"/>
              <a:buFont typeface="Barlow"/>
              <a:buNone/>
            </a:pPr>
            <a:r>
              <a:rPr lang="en-US" sz="3708" b="1" i="0" u="none" strike="noStrike" cap="none">
                <a:solidFill>
                  <a:srgbClr val="2E3C4E"/>
                </a:solidFill>
                <a:latin typeface="Barlow"/>
                <a:ea typeface="Barlow"/>
                <a:cs typeface="Barlow"/>
                <a:sym typeface="Barlow"/>
              </a:rPr>
              <a:t>Why This Project?</a:t>
            </a:r>
            <a:endParaRPr sz="3708" b="0" i="0" u="none" strike="noStrike" cap="none">
              <a:solidFill>
                <a:schemeClr val="dk1"/>
              </a:solidFill>
              <a:latin typeface="Arial"/>
              <a:ea typeface="Arial"/>
              <a:cs typeface="Arial"/>
              <a:sym typeface="Arial"/>
            </a:endParaRPr>
          </a:p>
        </p:txBody>
      </p:sp>
      <p:sp>
        <p:nvSpPr>
          <p:cNvPr id="165" name="Google Shape;165;p25"/>
          <p:cNvSpPr/>
          <p:nvPr/>
        </p:nvSpPr>
        <p:spPr>
          <a:xfrm>
            <a:off x="5203925" y="1688207"/>
            <a:ext cx="3087886" cy="2809181"/>
          </a:xfrm>
          <a:prstGeom prst="roundRect">
            <a:avLst>
              <a:gd name="adj" fmla="val 9641"/>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25"/>
          <p:cNvSpPr/>
          <p:nvPr/>
        </p:nvSpPr>
        <p:spPr>
          <a:xfrm>
            <a:off x="5390754" y="1875036"/>
            <a:ext cx="2714228" cy="593725"/>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Agricultural Labour Shortage</a:t>
            </a:r>
            <a:endParaRPr sz="1833" b="0" i="0" u="none" strike="noStrike" cap="none">
              <a:solidFill>
                <a:schemeClr val="dk1"/>
              </a:solidFill>
              <a:latin typeface="Arial"/>
              <a:ea typeface="Arial"/>
              <a:cs typeface="Arial"/>
              <a:sym typeface="Arial"/>
            </a:endParaRPr>
          </a:p>
        </p:txBody>
      </p:sp>
      <p:sp>
        <p:nvSpPr>
          <p:cNvPr id="167" name="Google Shape;167;p25"/>
          <p:cNvSpPr/>
          <p:nvPr/>
        </p:nvSpPr>
        <p:spPr>
          <a:xfrm>
            <a:off x="5390754" y="2577008"/>
            <a:ext cx="2714228" cy="144462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Addressing the increasing difficulty in finding and retaining labour for manual farming tasks in both rural and urban settings.</a:t>
            </a:r>
            <a:endParaRPr sz="1417" b="0" i="0" u="none" strike="noStrike" cap="none">
              <a:solidFill>
                <a:schemeClr val="dk1"/>
              </a:solidFill>
              <a:latin typeface="Arial"/>
              <a:ea typeface="Arial"/>
              <a:cs typeface="Arial"/>
              <a:sym typeface="Arial"/>
            </a:endParaRPr>
          </a:p>
        </p:txBody>
      </p:sp>
      <p:sp>
        <p:nvSpPr>
          <p:cNvPr id="168" name="Google Shape;168;p25"/>
          <p:cNvSpPr/>
          <p:nvPr/>
        </p:nvSpPr>
        <p:spPr>
          <a:xfrm>
            <a:off x="8472290" y="1688207"/>
            <a:ext cx="3087886" cy="2809181"/>
          </a:xfrm>
          <a:prstGeom prst="roundRect">
            <a:avLst>
              <a:gd name="adj" fmla="val 9641"/>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25"/>
          <p:cNvSpPr/>
          <p:nvPr/>
        </p:nvSpPr>
        <p:spPr>
          <a:xfrm>
            <a:off x="8659119" y="1875036"/>
            <a:ext cx="2714228" cy="593725"/>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Inconsistent Resource Use</a:t>
            </a:r>
            <a:endParaRPr sz="1833" b="0" i="0" u="none" strike="noStrike" cap="none">
              <a:solidFill>
                <a:schemeClr val="dk1"/>
              </a:solidFill>
              <a:latin typeface="Arial"/>
              <a:ea typeface="Arial"/>
              <a:cs typeface="Arial"/>
              <a:sym typeface="Arial"/>
            </a:endParaRPr>
          </a:p>
        </p:txBody>
      </p:sp>
      <p:sp>
        <p:nvSpPr>
          <p:cNvPr id="170" name="Google Shape;170;p25"/>
          <p:cNvSpPr/>
          <p:nvPr/>
        </p:nvSpPr>
        <p:spPr>
          <a:xfrm>
            <a:off x="8659119" y="2577008"/>
            <a:ext cx="2714228" cy="1733550"/>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Tackling the challenges of irregular and inefficient application of water and agrochemicals, which impacts crop health and yield.</a:t>
            </a:r>
            <a:endParaRPr sz="1417" b="0" i="0" u="none" strike="noStrike" cap="none">
              <a:solidFill>
                <a:schemeClr val="dk1"/>
              </a:solidFill>
              <a:latin typeface="Arial"/>
              <a:ea typeface="Arial"/>
              <a:cs typeface="Arial"/>
              <a:sym typeface="Arial"/>
            </a:endParaRPr>
          </a:p>
        </p:txBody>
      </p:sp>
      <p:sp>
        <p:nvSpPr>
          <p:cNvPr id="171" name="Google Shape;171;p25"/>
          <p:cNvSpPr/>
          <p:nvPr/>
        </p:nvSpPr>
        <p:spPr>
          <a:xfrm>
            <a:off x="5203924" y="4677867"/>
            <a:ext cx="6356152" cy="1356618"/>
          </a:xfrm>
          <a:prstGeom prst="roundRect">
            <a:avLst>
              <a:gd name="adj" fmla="val 1996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25"/>
          <p:cNvSpPr/>
          <p:nvPr/>
        </p:nvSpPr>
        <p:spPr>
          <a:xfrm>
            <a:off x="5390753" y="4864695"/>
            <a:ext cx="3155355"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Tech Intervention Opportunity</a:t>
            </a:r>
            <a:endParaRPr sz="1833" b="0" i="0" u="none" strike="noStrike" cap="none">
              <a:solidFill>
                <a:schemeClr val="dk1"/>
              </a:solidFill>
              <a:latin typeface="Arial"/>
              <a:ea typeface="Arial"/>
              <a:cs typeface="Arial"/>
              <a:sym typeface="Arial"/>
            </a:endParaRPr>
          </a:p>
        </p:txBody>
      </p:sp>
      <p:sp>
        <p:nvSpPr>
          <p:cNvPr id="173" name="Google Shape;173;p25"/>
          <p:cNvSpPr/>
          <p:nvPr/>
        </p:nvSpPr>
        <p:spPr>
          <a:xfrm>
            <a:off x="5390754" y="5269806"/>
            <a:ext cx="5982494" cy="577850"/>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Leveraging affordable IoT technologies like the ESP-01 to bring intelligent automation within reach of every farmer.</a:t>
            </a:r>
            <a:endParaRPr sz="1417" b="0" i="0" u="none" strike="noStrike" cap="none">
              <a:solidFill>
                <a:schemeClr val="dk1"/>
              </a:solidFill>
              <a:latin typeface="Arial"/>
              <a:ea typeface="Arial"/>
              <a:cs typeface="Arial"/>
              <a:sym typeface="Arial"/>
            </a:endParaRPr>
          </a:p>
        </p:txBody>
      </p:sp>
      <p:pic>
        <p:nvPicPr>
          <p:cNvPr id="174" name="Google Shape;174;p25" descr="A white background with black dots&#10;&#10;AI-generated content may be incorrect."/>
          <p:cNvPicPr preferRelativeResize="0"/>
          <p:nvPr/>
        </p:nvPicPr>
        <p:blipFill rotWithShape="1">
          <a:blip r:embed="rId4">
            <a:alphaModFix/>
          </a:blip>
          <a:srcRect/>
          <a:stretch/>
        </p:blipFill>
        <p:spPr>
          <a:xfrm>
            <a:off x="9886950" y="6283699"/>
            <a:ext cx="2301689" cy="57710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p:nvPr/>
        </p:nvSpPr>
        <p:spPr>
          <a:xfrm>
            <a:off x="576276" y="452725"/>
            <a:ext cx="6098100" cy="541500"/>
          </a:xfrm>
          <a:prstGeom prst="rect">
            <a:avLst/>
          </a:prstGeom>
          <a:noFill/>
          <a:ln>
            <a:noFill/>
          </a:ln>
        </p:spPr>
        <p:txBody>
          <a:bodyPr spcFirstLastPara="1" wrap="square" lIns="0" tIns="0" rIns="0" bIns="0" anchor="t" anchorCtr="0">
            <a:noAutofit/>
          </a:bodyPr>
          <a:lstStyle/>
          <a:p>
            <a:pPr marL="0" marR="0" lvl="0" indent="0" algn="l" rtl="0">
              <a:lnSpc>
                <a:spcPct val="125925"/>
              </a:lnSpc>
              <a:spcBef>
                <a:spcPts val="0"/>
              </a:spcBef>
              <a:spcAft>
                <a:spcPts val="0"/>
              </a:spcAft>
              <a:buClr>
                <a:srgbClr val="2E3C4E"/>
              </a:buClr>
              <a:buSzPts val="3375"/>
              <a:buFont typeface="Barlow"/>
              <a:buNone/>
            </a:pPr>
            <a:r>
              <a:rPr lang="en-US" sz="3375" b="1" i="0" u="none" strike="noStrike" cap="none">
                <a:solidFill>
                  <a:srgbClr val="2E3C4E"/>
                </a:solidFill>
                <a:latin typeface="Barlow"/>
                <a:ea typeface="Barlow"/>
                <a:cs typeface="Barlow"/>
                <a:sym typeface="Barlow"/>
              </a:rPr>
              <a:t>Motivation Behind </a:t>
            </a:r>
            <a:r>
              <a:rPr lang="en-US" sz="3375" b="1">
                <a:solidFill>
                  <a:srgbClr val="2E3C4E"/>
                </a:solidFill>
                <a:latin typeface="Barlow"/>
                <a:ea typeface="Barlow"/>
                <a:cs typeface="Barlow"/>
                <a:sym typeface="Barlow"/>
              </a:rPr>
              <a:t>SPRINT</a:t>
            </a:r>
            <a:endParaRPr sz="3375" b="0" i="0" u="none" strike="noStrike" cap="none">
              <a:solidFill>
                <a:schemeClr val="dk1"/>
              </a:solidFill>
              <a:latin typeface="Arial"/>
              <a:ea typeface="Arial"/>
              <a:cs typeface="Arial"/>
              <a:sym typeface="Arial"/>
            </a:endParaRPr>
          </a:p>
        </p:txBody>
      </p:sp>
      <p:pic>
        <p:nvPicPr>
          <p:cNvPr id="181" name="Google Shape;181;p26" descr="preencoded.png"/>
          <p:cNvPicPr preferRelativeResize="0"/>
          <p:nvPr/>
        </p:nvPicPr>
        <p:blipFill rotWithShape="1">
          <a:blip r:embed="rId3">
            <a:alphaModFix/>
          </a:blip>
          <a:srcRect/>
          <a:stretch/>
        </p:blipFill>
        <p:spPr>
          <a:xfrm>
            <a:off x="576263" y="1241227"/>
            <a:ext cx="823218" cy="1488778"/>
          </a:xfrm>
          <a:prstGeom prst="rect">
            <a:avLst/>
          </a:prstGeom>
          <a:noFill/>
          <a:ln>
            <a:noFill/>
          </a:ln>
        </p:spPr>
      </p:pic>
      <p:sp>
        <p:nvSpPr>
          <p:cNvPr id="182" name="Google Shape;182;p26"/>
          <p:cNvSpPr/>
          <p:nvPr/>
        </p:nvSpPr>
        <p:spPr>
          <a:xfrm>
            <a:off x="1646436" y="1405831"/>
            <a:ext cx="2166442" cy="270868"/>
          </a:xfrm>
          <a:prstGeom prst="rect">
            <a:avLst/>
          </a:prstGeom>
          <a:noFill/>
          <a:ln>
            <a:noFill/>
          </a:ln>
        </p:spPr>
        <p:txBody>
          <a:bodyPr spcFirstLastPara="1" wrap="square" lIns="0" tIns="0" rIns="0" bIns="0" anchor="t" anchorCtr="0">
            <a:noAutofit/>
          </a:bodyPr>
          <a:lstStyle/>
          <a:p>
            <a:pPr marL="0" marR="0" lvl="0" indent="0" algn="l" rtl="0">
              <a:lnSpc>
                <a:spcPct val="127474"/>
              </a:lnSpc>
              <a:spcBef>
                <a:spcPts val="0"/>
              </a:spcBef>
              <a:spcAft>
                <a:spcPts val="0"/>
              </a:spcAft>
              <a:buClr>
                <a:srgbClr val="384653"/>
              </a:buClr>
              <a:buSzPts val="1667"/>
              <a:buFont typeface="Barlow"/>
              <a:buNone/>
            </a:pPr>
            <a:r>
              <a:rPr lang="en-US" sz="1667" b="1" i="0" u="none" strike="noStrike" cap="none">
                <a:solidFill>
                  <a:srgbClr val="384653"/>
                </a:solidFill>
                <a:latin typeface="Barlow"/>
                <a:ea typeface="Barlow"/>
                <a:cs typeface="Barlow"/>
                <a:sym typeface="Barlow"/>
              </a:rPr>
              <a:t>Precision Application</a:t>
            </a:r>
            <a:endParaRPr sz="1667" b="0" i="0" u="none" strike="noStrike" cap="none">
              <a:solidFill>
                <a:schemeClr val="dk1"/>
              </a:solidFill>
              <a:latin typeface="Arial"/>
              <a:ea typeface="Arial"/>
              <a:cs typeface="Arial"/>
              <a:sym typeface="Arial"/>
            </a:endParaRPr>
          </a:p>
        </p:txBody>
      </p:sp>
      <p:sp>
        <p:nvSpPr>
          <p:cNvPr id="183" name="Google Shape;183;p26"/>
          <p:cNvSpPr/>
          <p:nvPr/>
        </p:nvSpPr>
        <p:spPr>
          <a:xfrm>
            <a:off x="1646436" y="1775420"/>
            <a:ext cx="5397302" cy="789980"/>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Addresses the need for timely, measured, and efficient application of water and agrochemicals, overcoming inconsistencies of manual methods.</a:t>
            </a:r>
            <a:endParaRPr sz="1292" b="0" i="0" u="none" strike="noStrike" cap="none">
              <a:solidFill>
                <a:schemeClr val="dk1"/>
              </a:solidFill>
              <a:latin typeface="Arial"/>
              <a:ea typeface="Arial"/>
              <a:cs typeface="Arial"/>
              <a:sym typeface="Arial"/>
            </a:endParaRPr>
          </a:p>
        </p:txBody>
      </p:sp>
      <p:pic>
        <p:nvPicPr>
          <p:cNvPr id="184" name="Google Shape;184;p26" descr="preencoded.png"/>
          <p:cNvPicPr preferRelativeResize="0"/>
          <p:nvPr/>
        </p:nvPicPr>
        <p:blipFill rotWithShape="1">
          <a:blip r:embed="rId4">
            <a:alphaModFix/>
          </a:blip>
          <a:srcRect/>
          <a:stretch/>
        </p:blipFill>
        <p:spPr>
          <a:xfrm>
            <a:off x="576263" y="2730005"/>
            <a:ext cx="823218" cy="1225451"/>
          </a:xfrm>
          <a:prstGeom prst="rect">
            <a:avLst/>
          </a:prstGeom>
          <a:noFill/>
          <a:ln>
            <a:noFill/>
          </a:ln>
        </p:spPr>
      </p:pic>
      <p:sp>
        <p:nvSpPr>
          <p:cNvPr id="185" name="Google Shape;185;p26"/>
          <p:cNvSpPr/>
          <p:nvPr/>
        </p:nvSpPr>
        <p:spPr>
          <a:xfrm>
            <a:off x="1646436" y="2894608"/>
            <a:ext cx="2184400" cy="270868"/>
          </a:xfrm>
          <a:prstGeom prst="rect">
            <a:avLst/>
          </a:prstGeom>
          <a:noFill/>
          <a:ln>
            <a:noFill/>
          </a:ln>
        </p:spPr>
        <p:txBody>
          <a:bodyPr spcFirstLastPara="1" wrap="square" lIns="0" tIns="0" rIns="0" bIns="0" anchor="t" anchorCtr="0">
            <a:noAutofit/>
          </a:bodyPr>
          <a:lstStyle/>
          <a:p>
            <a:pPr marL="0" marR="0" lvl="0" indent="0" algn="l" rtl="0">
              <a:lnSpc>
                <a:spcPct val="127474"/>
              </a:lnSpc>
              <a:spcBef>
                <a:spcPts val="0"/>
              </a:spcBef>
              <a:spcAft>
                <a:spcPts val="0"/>
              </a:spcAft>
              <a:buClr>
                <a:srgbClr val="384653"/>
              </a:buClr>
              <a:buSzPts val="1667"/>
              <a:buFont typeface="Barlow"/>
              <a:buNone/>
            </a:pPr>
            <a:r>
              <a:rPr lang="en-US" sz="1667" b="1" i="0" u="none" strike="noStrike" cap="none">
                <a:solidFill>
                  <a:srgbClr val="384653"/>
                </a:solidFill>
                <a:latin typeface="Barlow"/>
                <a:ea typeface="Barlow"/>
                <a:cs typeface="Barlow"/>
                <a:sym typeface="Barlow"/>
              </a:rPr>
              <a:t>Time &amp; Cost Efficiency</a:t>
            </a:r>
            <a:endParaRPr sz="1667" b="0" i="0" u="none" strike="noStrike" cap="none">
              <a:solidFill>
                <a:schemeClr val="dk1"/>
              </a:solidFill>
              <a:latin typeface="Arial"/>
              <a:ea typeface="Arial"/>
              <a:cs typeface="Arial"/>
              <a:sym typeface="Arial"/>
            </a:endParaRPr>
          </a:p>
        </p:txBody>
      </p:sp>
      <p:sp>
        <p:nvSpPr>
          <p:cNvPr id="186" name="Google Shape;186;p26"/>
          <p:cNvSpPr/>
          <p:nvPr/>
        </p:nvSpPr>
        <p:spPr>
          <a:xfrm>
            <a:off x="1646436" y="3264198"/>
            <a:ext cx="5397302" cy="526653"/>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Provides a scalable solution for both rural and urban farmers, saving time and reducing operational costs.</a:t>
            </a:r>
            <a:endParaRPr sz="1292" b="0" i="0" u="none" strike="noStrike" cap="none">
              <a:solidFill>
                <a:schemeClr val="dk1"/>
              </a:solidFill>
              <a:latin typeface="Arial"/>
              <a:ea typeface="Arial"/>
              <a:cs typeface="Arial"/>
              <a:sym typeface="Arial"/>
            </a:endParaRPr>
          </a:p>
        </p:txBody>
      </p:sp>
      <p:pic>
        <p:nvPicPr>
          <p:cNvPr id="187" name="Google Shape;187;p26" descr="preencoded.png"/>
          <p:cNvPicPr preferRelativeResize="0"/>
          <p:nvPr/>
        </p:nvPicPr>
        <p:blipFill rotWithShape="1">
          <a:blip r:embed="rId5">
            <a:alphaModFix/>
          </a:blip>
          <a:srcRect/>
          <a:stretch/>
        </p:blipFill>
        <p:spPr>
          <a:xfrm>
            <a:off x="576263" y="3955455"/>
            <a:ext cx="823218" cy="1225451"/>
          </a:xfrm>
          <a:prstGeom prst="rect">
            <a:avLst/>
          </a:prstGeom>
          <a:noFill/>
          <a:ln>
            <a:noFill/>
          </a:ln>
        </p:spPr>
      </p:pic>
      <p:sp>
        <p:nvSpPr>
          <p:cNvPr id="188" name="Google Shape;188;p26"/>
          <p:cNvSpPr/>
          <p:nvPr/>
        </p:nvSpPr>
        <p:spPr>
          <a:xfrm>
            <a:off x="1646436" y="4120059"/>
            <a:ext cx="2166442" cy="270868"/>
          </a:xfrm>
          <a:prstGeom prst="rect">
            <a:avLst/>
          </a:prstGeom>
          <a:noFill/>
          <a:ln>
            <a:noFill/>
          </a:ln>
        </p:spPr>
        <p:txBody>
          <a:bodyPr spcFirstLastPara="1" wrap="square" lIns="0" tIns="0" rIns="0" bIns="0" anchor="t" anchorCtr="0">
            <a:noAutofit/>
          </a:bodyPr>
          <a:lstStyle/>
          <a:p>
            <a:pPr marL="0" marR="0" lvl="0" indent="0" algn="l" rtl="0">
              <a:lnSpc>
                <a:spcPct val="127474"/>
              </a:lnSpc>
              <a:spcBef>
                <a:spcPts val="0"/>
              </a:spcBef>
              <a:spcAft>
                <a:spcPts val="0"/>
              </a:spcAft>
              <a:buClr>
                <a:srgbClr val="384653"/>
              </a:buClr>
              <a:buSzPts val="1667"/>
              <a:buFont typeface="Barlow"/>
              <a:buNone/>
            </a:pPr>
            <a:r>
              <a:rPr lang="en-US" sz="1667" b="1" i="0" u="none" strike="noStrike" cap="none">
                <a:solidFill>
                  <a:srgbClr val="384653"/>
                </a:solidFill>
                <a:latin typeface="Barlow"/>
                <a:ea typeface="Barlow"/>
                <a:cs typeface="Barlow"/>
                <a:sym typeface="Barlow"/>
              </a:rPr>
              <a:t>Leveraging IoT</a:t>
            </a:r>
            <a:endParaRPr sz="1667" b="0" i="0" u="none" strike="noStrike" cap="none">
              <a:solidFill>
                <a:schemeClr val="dk1"/>
              </a:solidFill>
              <a:latin typeface="Arial"/>
              <a:ea typeface="Arial"/>
              <a:cs typeface="Arial"/>
              <a:sym typeface="Arial"/>
            </a:endParaRPr>
          </a:p>
        </p:txBody>
      </p:sp>
      <p:sp>
        <p:nvSpPr>
          <p:cNvPr id="189" name="Google Shape;189;p26"/>
          <p:cNvSpPr/>
          <p:nvPr/>
        </p:nvSpPr>
        <p:spPr>
          <a:xfrm>
            <a:off x="1646436" y="4489649"/>
            <a:ext cx="5397302" cy="526653"/>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Utilises low-cost Wi-Fi microcontrollers and cloud platforms like Firebase for intelligent, remote automation.</a:t>
            </a:r>
            <a:endParaRPr sz="1292" b="0" i="0" u="none" strike="noStrike" cap="none">
              <a:solidFill>
                <a:schemeClr val="dk1"/>
              </a:solidFill>
              <a:latin typeface="Arial"/>
              <a:ea typeface="Arial"/>
              <a:cs typeface="Arial"/>
              <a:sym typeface="Arial"/>
            </a:endParaRPr>
          </a:p>
        </p:txBody>
      </p:sp>
      <p:pic>
        <p:nvPicPr>
          <p:cNvPr id="190" name="Google Shape;190;p26" descr="preencoded.png"/>
          <p:cNvPicPr preferRelativeResize="0"/>
          <p:nvPr/>
        </p:nvPicPr>
        <p:blipFill rotWithShape="1">
          <a:blip r:embed="rId6">
            <a:alphaModFix/>
          </a:blip>
          <a:srcRect/>
          <a:stretch/>
        </p:blipFill>
        <p:spPr>
          <a:xfrm>
            <a:off x="576263" y="5180906"/>
            <a:ext cx="823218" cy="1225451"/>
          </a:xfrm>
          <a:prstGeom prst="rect">
            <a:avLst/>
          </a:prstGeom>
          <a:noFill/>
          <a:ln>
            <a:noFill/>
          </a:ln>
        </p:spPr>
      </p:pic>
      <p:sp>
        <p:nvSpPr>
          <p:cNvPr id="191" name="Google Shape;191;p26"/>
          <p:cNvSpPr/>
          <p:nvPr/>
        </p:nvSpPr>
        <p:spPr>
          <a:xfrm>
            <a:off x="1646436" y="5345509"/>
            <a:ext cx="2166442" cy="270868"/>
          </a:xfrm>
          <a:prstGeom prst="rect">
            <a:avLst/>
          </a:prstGeom>
          <a:noFill/>
          <a:ln>
            <a:noFill/>
          </a:ln>
        </p:spPr>
        <p:txBody>
          <a:bodyPr spcFirstLastPara="1" wrap="square" lIns="0" tIns="0" rIns="0" bIns="0" anchor="t" anchorCtr="0">
            <a:noAutofit/>
          </a:bodyPr>
          <a:lstStyle/>
          <a:p>
            <a:pPr marL="0" marR="0" lvl="0" indent="0" algn="l" rtl="0">
              <a:lnSpc>
                <a:spcPct val="127474"/>
              </a:lnSpc>
              <a:spcBef>
                <a:spcPts val="0"/>
              </a:spcBef>
              <a:spcAft>
                <a:spcPts val="0"/>
              </a:spcAft>
              <a:buClr>
                <a:srgbClr val="384653"/>
              </a:buClr>
              <a:buSzPts val="1667"/>
              <a:buFont typeface="Barlow"/>
              <a:buNone/>
            </a:pPr>
            <a:r>
              <a:rPr lang="en-US" sz="1667" b="1" i="0" u="none" strike="noStrike" cap="none">
                <a:solidFill>
                  <a:srgbClr val="384653"/>
                </a:solidFill>
                <a:latin typeface="Barlow"/>
                <a:ea typeface="Barlow"/>
                <a:cs typeface="Barlow"/>
                <a:sym typeface="Barlow"/>
              </a:rPr>
              <a:t>Sustainability</a:t>
            </a:r>
            <a:endParaRPr sz="1667" b="0" i="0" u="none" strike="noStrike" cap="none">
              <a:solidFill>
                <a:schemeClr val="dk1"/>
              </a:solidFill>
              <a:latin typeface="Arial"/>
              <a:ea typeface="Arial"/>
              <a:cs typeface="Arial"/>
              <a:sym typeface="Arial"/>
            </a:endParaRPr>
          </a:p>
        </p:txBody>
      </p:sp>
      <p:sp>
        <p:nvSpPr>
          <p:cNvPr id="192" name="Google Shape;192;p26"/>
          <p:cNvSpPr/>
          <p:nvPr/>
        </p:nvSpPr>
        <p:spPr>
          <a:xfrm>
            <a:off x="1646436" y="5715099"/>
            <a:ext cx="5397302" cy="526653"/>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Promotes precision farming to optimise resource use, conserve water, and minimise environmental impact.</a:t>
            </a:r>
            <a:endParaRPr sz="1292" b="0" i="0" u="none" strike="noStrike" cap="none">
              <a:solidFill>
                <a:schemeClr val="dk1"/>
              </a:solidFill>
              <a:latin typeface="Arial"/>
              <a:ea typeface="Arial"/>
              <a:cs typeface="Arial"/>
              <a:sym typeface="Arial"/>
            </a:endParaRPr>
          </a:p>
        </p:txBody>
      </p:sp>
      <p:pic>
        <p:nvPicPr>
          <p:cNvPr id="193" name="Google Shape;193;p26" descr="preencoded.png"/>
          <p:cNvPicPr preferRelativeResize="0"/>
          <p:nvPr/>
        </p:nvPicPr>
        <p:blipFill rotWithShape="1">
          <a:blip r:embed="rId7">
            <a:alphaModFix/>
          </a:blip>
          <a:srcRect/>
          <a:stretch/>
        </p:blipFill>
        <p:spPr>
          <a:xfrm>
            <a:off x="7385843" y="0"/>
            <a:ext cx="4802187"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27" descr="preencoded.png"/>
          <p:cNvPicPr preferRelativeResize="0"/>
          <p:nvPr/>
        </p:nvPicPr>
        <p:blipFill rotWithShape="1">
          <a:blip r:embed="rId3">
            <a:alphaModFix/>
          </a:blip>
          <a:srcRect/>
          <a:stretch/>
        </p:blipFill>
        <p:spPr>
          <a:xfrm>
            <a:off x="7391400" y="0"/>
            <a:ext cx="4800600" cy="6858198"/>
          </a:xfrm>
          <a:prstGeom prst="rect">
            <a:avLst/>
          </a:prstGeom>
          <a:noFill/>
          <a:ln>
            <a:noFill/>
          </a:ln>
        </p:spPr>
      </p:pic>
      <p:sp>
        <p:nvSpPr>
          <p:cNvPr id="200" name="Google Shape;200;p27"/>
          <p:cNvSpPr/>
          <p:nvPr/>
        </p:nvSpPr>
        <p:spPr>
          <a:xfrm>
            <a:off x="599182" y="470794"/>
            <a:ext cx="5629771" cy="563166"/>
          </a:xfrm>
          <a:prstGeom prst="rect">
            <a:avLst/>
          </a:prstGeom>
          <a:noFill/>
          <a:ln>
            <a:noFill/>
          </a:ln>
        </p:spPr>
        <p:txBody>
          <a:bodyPr spcFirstLastPara="1" wrap="square" lIns="0" tIns="0" rIns="0" bIns="0" anchor="t" anchorCtr="0">
            <a:noAutofit/>
          </a:bodyPr>
          <a:lstStyle/>
          <a:p>
            <a:pPr marL="0" marR="0" lvl="0" indent="0" algn="l" rtl="0">
              <a:lnSpc>
                <a:spcPct val="124710"/>
              </a:lnSpc>
              <a:spcBef>
                <a:spcPts val="0"/>
              </a:spcBef>
              <a:spcAft>
                <a:spcPts val="0"/>
              </a:spcAft>
              <a:buClr>
                <a:srgbClr val="2E3C4E"/>
              </a:buClr>
              <a:buSzPts val="3541"/>
              <a:buFont typeface="Barlow"/>
              <a:buNone/>
            </a:pPr>
            <a:r>
              <a:rPr lang="en-US" sz="3541" b="1" i="0" u="none" strike="noStrike" cap="none">
                <a:solidFill>
                  <a:srgbClr val="2E3C4E"/>
                </a:solidFill>
                <a:latin typeface="Barlow"/>
                <a:ea typeface="Barlow"/>
                <a:cs typeface="Barlow"/>
                <a:sym typeface="Barlow"/>
              </a:rPr>
              <a:t>System Goals and Outcomes</a:t>
            </a:r>
            <a:endParaRPr sz="3541" b="0" i="0" u="none" strike="noStrike" cap="none">
              <a:solidFill>
                <a:schemeClr val="dk1"/>
              </a:solidFill>
              <a:latin typeface="Arial"/>
              <a:ea typeface="Arial"/>
              <a:cs typeface="Arial"/>
              <a:sym typeface="Arial"/>
            </a:endParaRPr>
          </a:p>
        </p:txBody>
      </p:sp>
      <p:pic>
        <p:nvPicPr>
          <p:cNvPr id="201" name="Google Shape;201;p27" descr="preencoded.png"/>
          <p:cNvPicPr preferRelativeResize="0"/>
          <p:nvPr/>
        </p:nvPicPr>
        <p:blipFill rotWithShape="1">
          <a:blip r:embed="rId4">
            <a:alphaModFix/>
          </a:blip>
          <a:srcRect/>
          <a:stretch/>
        </p:blipFill>
        <p:spPr>
          <a:xfrm>
            <a:off x="599182" y="1290737"/>
            <a:ext cx="855960" cy="1274168"/>
          </a:xfrm>
          <a:prstGeom prst="rect">
            <a:avLst/>
          </a:prstGeom>
          <a:noFill/>
          <a:ln>
            <a:noFill/>
          </a:ln>
        </p:spPr>
      </p:pic>
      <p:sp>
        <p:nvSpPr>
          <p:cNvPr id="202" name="Google Shape;202;p27"/>
          <p:cNvSpPr/>
          <p:nvPr/>
        </p:nvSpPr>
        <p:spPr>
          <a:xfrm>
            <a:off x="1711920" y="1461889"/>
            <a:ext cx="2964061" cy="281483"/>
          </a:xfrm>
          <a:prstGeom prst="rect">
            <a:avLst/>
          </a:prstGeom>
          <a:noFill/>
          <a:ln>
            <a:noFill/>
          </a:ln>
        </p:spPr>
        <p:txBody>
          <a:bodyPr spcFirstLastPara="1" wrap="square" lIns="0" tIns="0" rIns="0" bIns="0" anchor="t" anchorCtr="0">
            <a:noAutofit/>
          </a:bodyPr>
          <a:lstStyle/>
          <a:p>
            <a:pPr marL="0" marR="0" lvl="0" indent="0" algn="l" rtl="0">
              <a:lnSpc>
                <a:spcPct val="126171"/>
              </a:lnSpc>
              <a:spcBef>
                <a:spcPts val="0"/>
              </a:spcBef>
              <a:spcAft>
                <a:spcPts val="0"/>
              </a:spcAft>
              <a:buClr>
                <a:srgbClr val="384653"/>
              </a:buClr>
              <a:buSzPts val="1750"/>
              <a:buFont typeface="Barlow"/>
              <a:buNone/>
            </a:pPr>
            <a:r>
              <a:rPr lang="en-US" sz="1750" b="1" i="0" u="none" strike="noStrike" cap="none">
                <a:solidFill>
                  <a:srgbClr val="384653"/>
                </a:solidFill>
                <a:latin typeface="Barlow"/>
                <a:ea typeface="Barlow"/>
                <a:cs typeface="Barlow"/>
                <a:sym typeface="Barlow"/>
              </a:rPr>
              <a:t>Remote Mobile-Based Control</a:t>
            </a:r>
            <a:endParaRPr sz="1750" b="0" i="0" u="none" strike="noStrike" cap="none">
              <a:solidFill>
                <a:schemeClr val="dk1"/>
              </a:solidFill>
              <a:latin typeface="Arial"/>
              <a:ea typeface="Arial"/>
              <a:cs typeface="Arial"/>
              <a:sym typeface="Arial"/>
            </a:endParaRPr>
          </a:p>
        </p:txBody>
      </p:sp>
      <p:sp>
        <p:nvSpPr>
          <p:cNvPr id="203" name="Google Shape;203;p27"/>
          <p:cNvSpPr/>
          <p:nvPr/>
        </p:nvSpPr>
        <p:spPr>
          <a:xfrm>
            <a:off x="1711920" y="1846064"/>
            <a:ext cx="5308898" cy="547688"/>
          </a:xfrm>
          <a:prstGeom prst="rect">
            <a:avLst/>
          </a:prstGeom>
          <a:noFill/>
          <a:ln>
            <a:noFill/>
          </a:ln>
        </p:spPr>
        <p:txBody>
          <a:bodyPr spcFirstLastPara="1" wrap="square" lIns="0" tIns="0" rIns="0" bIns="0" anchor="t" anchorCtr="0">
            <a:noAutofit/>
          </a:bodyPr>
          <a:lstStyle/>
          <a:p>
            <a:pPr marL="0" marR="0" lvl="0" indent="0" algn="l" rtl="0">
              <a:lnSpc>
                <a:spcPct val="159414"/>
              </a:lnSpc>
              <a:spcBef>
                <a:spcPts val="0"/>
              </a:spcBef>
              <a:spcAft>
                <a:spcPts val="0"/>
              </a:spcAft>
              <a:buClr>
                <a:srgbClr val="384653"/>
              </a:buClr>
              <a:buSzPts val="1333"/>
              <a:buFont typeface="Montserrat"/>
              <a:buNone/>
            </a:pPr>
            <a:r>
              <a:rPr lang="en-US" sz="1333" b="0" i="0" u="none" strike="noStrike" cap="none">
                <a:solidFill>
                  <a:srgbClr val="384653"/>
                </a:solidFill>
                <a:latin typeface="Montserrat"/>
                <a:ea typeface="Montserrat"/>
                <a:cs typeface="Montserrat"/>
                <a:sym typeface="Montserrat"/>
              </a:rPr>
              <a:t>Control the system from anywhere via a custom Android application.</a:t>
            </a:r>
            <a:endParaRPr sz="1333" b="0" i="0" u="none" strike="noStrike" cap="none">
              <a:solidFill>
                <a:schemeClr val="dk1"/>
              </a:solidFill>
              <a:latin typeface="Arial"/>
              <a:ea typeface="Arial"/>
              <a:cs typeface="Arial"/>
              <a:sym typeface="Arial"/>
            </a:endParaRPr>
          </a:p>
        </p:txBody>
      </p:sp>
      <p:pic>
        <p:nvPicPr>
          <p:cNvPr id="204" name="Google Shape;204;p27" descr="preencoded.png"/>
          <p:cNvPicPr preferRelativeResize="0"/>
          <p:nvPr/>
        </p:nvPicPr>
        <p:blipFill rotWithShape="1">
          <a:blip r:embed="rId5">
            <a:alphaModFix/>
          </a:blip>
          <a:srcRect/>
          <a:stretch/>
        </p:blipFill>
        <p:spPr>
          <a:xfrm>
            <a:off x="599182" y="2564904"/>
            <a:ext cx="855960" cy="1274168"/>
          </a:xfrm>
          <a:prstGeom prst="rect">
            <a:avLst/>
          </a:prstGeom>
          <a:noFill/>
          <a:ln>
            <a:noFill/>
          </a:ln>
        </p:spPr>
      </p:pic>
      <p:sp>
        <p:nvSpPr>
          <p:cNvPr id="205" name="Google Shape;205;p27"/>
          <p:cNvSpPr/>
          <p:nvPr/>
        </p:nvSpPr>
        <p:spPr>
          <a:xfrm>
            <a:off x="1711920" y="2736057"/>
            <a:ext cx="2794000" cy="281483"/>
          </a:xfrm>
          <a:prstGeom prst="rect">
            <a:avLst/>
          </a:prstGeom>
          <a:noFill/>
          <a:ln>
            <a:noFill/>
          </a:ln>
        </p:spPr>
        <p:txBody>
          <a:bodyPr spcFirstLastPara="1" wrap="square" lIns="0" tIns="0" rIns="0" bIns="0" anchor="t" anchorCtr="0">
            <a:noAutofit/>
          </a:bodyPr>
          <a:lstStyle/>
          <a:p>
            <a:pPr marL="0" marR="0" lvl="0" indent="0" algn="l" rtl="0">
              <a:lnSpc>
                <a:spcPct val="126171"/>
              </a:lnSpc>
              <a:spcBef>
                <a:spcPts val="0"/>
              </a:spcBef>
              <a:spcAft>
                <a:spcPts val="0"/>
              </a:spcAft>
              <a:buClr>
                <a:srgbClr val="384653"/>
              </a:buClr>
              <a:buSzPts val="1750"/>
              <a:buFont typeface="Barlow"/>
              <a:buNone/>
            </a:pPr>
            <a:r>
              <a:rPr lang="en-US" sz="1750" b="1" i="0" u="none" strike="noStrike" cap="none">
                <a:solidFill>
                  <a:srgbClr val="384653"/>
                </a:solidFill>
                <a:latin typeface="Barlow"/>
                <a:ea typeface="Barlow"/>
                <a:cs typeface="Barlow"/>
                <a:sym typeface="Barlow"/>
              </a:rPr>
              <a:t>Cloud Integration (Firebase)</a:t>
            </a:r>
            <a:endParaRPr sz="1750" b="0" i="0" u="none" strike="noStrike" cap="none">
              <a:solidFill>
                <a:schemeClr val="dk1"/>
              </a:solidFill>
              <a:latin typeface="Arial"/>
              <a:ea typeface="Arial"/>
              <a:cs typeface="Arial"/>
              <a:sym typeface="Arial"/>
            </a:endParaRPr>
          </a:p>
        </p:txBody>
      </p:sp>
      <p:sp>
        <p:nvSpPr>
          <p:cNvPr id="206" name="Google Shape;206;p27"/>
          <p:cNvSpPr/>
          <p:nvPr/>
        </p:nvSpPr>
        <p:spPr>
          <a:xfrm>
            <a:off x="1711920" y="3120232"/>
            <a:ext cx="5308898" cy="547688"/>
          </a:xfrm>
          <a:prstGeom prst="rect">
            <a:avLst/>
          </a:prstGeom>
          <a:noFill/>
          <a:ln>
            <a:noFill/>
          </a:ln>
        </p:spPr>
        <p:txBody>
          <a:bodyPr spcFirstLastPara="1" wrap="square" lIns="0" tIns="0" rIns="0" bIns="0" anchor="t" anchorCtr="0">
            <a:noAutofit/>
          </a:bodyPr>
          <a:lstStyle/>
          <a:p>
            <a:pPr marL="0" marR="0" lvl="0" indent="0" algn="l" rtl="0">
              <a:lnSpc>
                <a:spcPct val="159414"/>
              </a:lnSpc>
              <a:spcBef>
                <a:spcPts val="0"/>
              </a:spcBef>
              <a:spcAft>
                <a:spcPts val="0"/>
              </a:spcAft>
              <a:buClr>
                <a:srgbClr val="384653"/>
              </a:buClr>
              <a:buSzPts val="1333"/>
              <a:buFont typeface="Montserrat"/>
              <a:buNone/>
            </a:pPr>
            <a:r>
              <a:rPr lang="en-US" sz="1333" b="0" i="0" u="none" strike="noStrike" cap="none">
                <a:solidFill>
                  <a:srgbClr val="384653"/>
                </a:solidFill>
                <a:latin typeface="Montserrat"/>
                <a:ea typeface="Montserrat"/>
                <a:cs typeface="Montserrat"/>
                <a:sym typeface="Montserrat"/>
              </a:rPr>
              <a:t>Real-time communication and data synchronisation with Firebase.</a:t>
            </a:r>
            <a:endParaRPr sz="1333" b="0" i="0" u="none" strike="noStrike" cap="none">
              <a:solidFill>
                <a:schemeClr val="dk1"/>
              </a:solidFill>
              <a:latin typeface="Arial"/>
              <a:ea typeface="Arial"/>
              <a:cs typeface="Arial"/>
              <a:sym typeface="Arial"/>
            </a:endParaRPr>
          </a:p>
        </p:txBody>
      </p:sp>
      <p:pic>
        <p:nvPicPr>
          <p:cNvPr id="207" name="Google Shape;207;p27" descr="preencoded.png"/>
          <p:cNvPicPr preferRelativeResize="0"/>
          <p:nvPr/>
        </p:nvPicPr>
        <p:blipFill rotWithShape="1">
          <a:blip r:embed="rId6">
            <a:alphaModFix/>
          </a:blip>
          <a:srcRect/>
          <a:stretch/>
        </p:blipFill>
        <p:spPr>
          <a:xfrm>
            <a:off x="599182" y="3839071"/>
            <a:ext cx="855960" cy="1274168"/>
          </a:xfrm>
          <a:prstGeom prst="rect">
            <a:avLst/>
          </a:prstGeom>
          <a:noFill/>
          <a:ln>
            <a:noFill/>
          </a:ln>
        </p:spPr>
      </p:pic>
      <p:sp>
        <p:nvSpPr>
          <p:cNvPr id="208" name="Google Shape;208;p27"/>
          <p:cNvSpPr/>
          <p:nvPr/>
        </p:nvSpPr>
        <p:spPr>
          <a:xfrm>
            <a:off x="1711920" y="4010224"/>
            <a:ext cx="2468563" cy="281483"/>
          </a:xfrm>
          <a:prstGeom prst="rect">
            <a:avLst/>
          </a:prstGeom>
          <a:noFill/>
          <a:ln>
            <a:noFill/>
          </a:ln>
        </p:spPr>
        <p:txBody>
          <a:bodyPr spcFirstLastPara="1" wrap="square" lIns="0" tIns="0" rIns="0" bIns="0" anchor="t" anchorCtr="0">
            <a:noAutofit/>
          </a:bodyPr>
          <a:lstStyle/>
          <a:p>
            <a:pPr marL="0" marR="0" lvl="0" indent="0" algn="l" rtl="0">
              <a:lnSpc>
                <a:spcPct val="126171"/>
              </a:lnSpc>
              <a:spcBef>
                <a:spcPts val="0"/>
              </a:spcBef>
              <a:spcAft>
                <a:spcPts val="0"/>
              </a:spcAft>
              <a:buClr>
                <a:srgbClr val="384653"/>
              </a:buClr>
              <a:buSzPts val="1750"/>
              <a:buFont typeface="Barlow"/>
              <a:buNone/>
            </a:pPr>
            <a:r>
              <a:rPr lang="en-US" sz="1750" b="1" i="0" u="none" strike="noStrike" cap="none">
                <a:solidFill>
                  <a:srgbClr val="384653"/>
                </a:solidFill>
                <a:latin typeface="Barlow"/>
                <a:ea typeface="Barlow"/>
                <a:cs typeface="Barlow"/>
                <a:sym typeface="Barlow"/>
              </a:rPr>
              <a:t>Easy Installation and Use</a:t>
            </a:r>
            <a:endParaRPr sz="1750" b="0" i="0" u="none" strike="noStrike" cap="none">
              <a:solidFill>
                <a:schemeClr val="dk1"/>
              </a:solidFill>
              <a:latin typeface="Arial"/>
              <a:ea typeface="Arial"/>
              <a:cs typeface="Arial"/>
              <a:sym typeface="Arial"/>
            </a:endParaRPr>
          </a:p>
        </p:txBody>
      </p:sp>
      <p:sp>
        <p:nvSpPr>
          <p:cNvPr id="209" name="Google Shape;209;p27"/>
          <p:cNvSpPr/>
          <p:nvPr/>
        </p:nvSpPr>
        <p:spPr>
          <a:xfrm>
            <a:off x="1711920" y="4394399"/>
            <a:ext cx="5308898" cy="547688"/>
          </a:xfrm>
          <a:prstGeom prst="rect">
            <a:avLst/>
          </a:prstGeom>
          <a:noFill/>
          <a:ln>
            <a:noFill/>
          </a:ln>
        </p:spPr>
        <p:txBody>
          <a:bodyPr spcFirstLastPara="1" wrap="square" lIns="0" tIns="0" rIns="0" bIns="0" anchor="t" anchorCtr="0">
            <a:noAutofit/>
          </a:bodyPr>
          <a:lstStyle/>
          <a:p>
            <a:pPr marL="0" marR="0" lvl="0" indent="0" algn="l" rtl="0">
              <a:lnSpc>
                <a:spcPct val="159414"/>
              </a:lnSpc>
              <a:spcBef>
                <a:spcPts val="0"/>
              </a:spcBef>
              <a:spcAft>
                <a:spcPts val="0"/>
              </a:spcAft>
              <a:buClr>
                <a:srgbClr val="384653"/>
              </a:buClr>
              <a:buSzPts val="1333"/>
              <a:buFont typeface="Montserrat"/>
              <a:buNone/>
            </a:pPr>
            <a:r>
              <a:rPr lang="en-US" sz="1333" b="0" i="0" u="none" strike="noStrike" cap="none">
                <a:solidFill>
                  <a:srgbClr val="384653"/>
                </a:solidFill>
                <a:latin typeface="Montserrat"/>
                <a:ea typeface="Montserrat"/>
                <a:cs typeface="Montserrat"/>
                <a:sym typeface="Montserrat"/>
              </a:rPr>
              <a:t>User-friendly setup and operation for diverse agricultural settings.</a:t>
            </a:r>
            <a:endParaRPr sz="1333" b="0" i="0" u="none" strike="noStrike" cap="none">
              <a:solidFill>
                <a:schemeClr val="dk1"/>
              </a:solidFill>
              <a:latin typeface="Arial"/>
              <a:ea typeface="Arial"/>
              <a:cs typeface="Arial"/>
              <a:sym typeface="Arial"/>
            </a:endParaRPr>
          </a:p>
        </p:txBody>
      </p:sp>
      <p:pic>
        <p:nvPicPr>
          <p:cNvPr id="210" name="Google Shape;210;p27" descr="preencoded.png"/>
          <p:cNvPicPr preferRelativeResize="0"/>
          <p:nvPr/>
        </p:nvPicPr>
        <p:blipFill rotWithShape="1">
          <a:blip r:embed="rId7">
            <a:alphaModFix/>
          </a:blip>
          <a:srcRect/>
          <a:stretch/>
        </p:blipFill>
        <p:spPr>
          <a:xfrm>
            <a:off x="599182" y="5113239"/>
            <a:ext cx="855960" cy="1274168"/>
          </a:xfrm>
          <a:prstGeom prst="rect">
            <a:avLst/>
          </a:prstGeom>
          <a:noFill/>
          <a:ln>
            <a:noFill/>
          </a:ln>
        </p:spPr>
      </p:pic>
      <p:sp>
        <p:nvSpPr>
          <p:cNvPr id="211" name="Google Shape;211;p27"/>
          <p:cNvSpPr/>
          <p:nvPr/>
        </p:nvSpPr>
        <p:spPr>
          <a:xfrm>
            <a:off x="1711920" y="5284391"/>
            <a:ext cx="4352330" cy="281483"/>
          </a:xfrm>
          <a:prstGeom prst="rect">
            <a:avLst/>
          </a:prstGeom>
          <a:noFill/>
          <a:ln>
            <a:noFill/>
          </a:ln>
        </p:spPr>
        <p:txBody>
          <a:bodyPr spcFirstLastPara="1" wrap="square" lIns="0" tIns="0" rIns="0" bIns="0" anchor="t" anchorCtr="0">
            <a:noAutofit/>
          </a:bodyPr>
          <a:lstStyle/>
          <a:p>
            <a:pPr marL="0" marR="0" lvl="0" indent="0" algn="l" rtl="0">
              <a:lnSpc>
                <a:spcPct val="126171"/>
              </a:lnSpc>
              <a:spcBef>
                <a:spcPts val="0"/>
              </a:spcBef>
              <a:spcAft>
                <a:spcPts val="0"/>
              </a:spcAft>
              <a:buClr>
                <a:srgbClr val="384653"/>
              </a:buClr>
              <a:buSzPts val="1750"/>
              <a:buFont typeface="Barlow"/>
              <a:buNone/>
            </a:pPr>
            <a:r>
              <a:rPr lang="en-US" sz="1750" b="1" i="0" u="none" strike="noStrike" cap="none">
                <a:solidFill>
                  <a:srgbClr val="384653"/>
                </a:solidFill>
                <a:latin typeface="Barlow"/>
                <a:ea typeface="Barlow"/>
                <a:cs typeface="Barlow"/>
                <a:sym typeface="Barlow"/>
              </a:rPr>
              <a:t>Expandability with Sensors and Automation</a:t>
            </a:r>
            <a:endParaRPr sz="1750" b="0" i="0" u="none" strike="noStrike" cap="none">
              <a:solidFill>
                <a:schemeClr val="dk1"/>
              </a:solidFill>
              <a:latin typeface="Arial"/>
              <a:ea typeface="Arial"/>
              <a:cs typeface="Arial"/>
              <a:sym typeface="Arial"/>
            </a:endParaRPr>
          </a:p>
        </p:txBody>
      </p:sp>
      <p:sp>
        <p:nvSpPr>
          <p:cNvPr id="212" name="Google Shape;212;p27"/>
          <p:cNvSpPr/>
          <p:nvPr/>
        </p:nvSpPr>
        <p:spPr>
          <a:xfrm>
            <a:off x="1711920" y="5668566"/>
            <a:ext cx="5308898" cy="547688"/>
          </a:xfrm>
          <a:prstGeom prst="rect">
            <a:avLst/>
          </a:prstGeom>
          <a:noFill/>
          <a:ln>
            <a:noFill/>
          </a:ln>
        </p:spPr>
        <p:txBody>
          <a:bodyPr spcFirstLastPara="1" wrap="square" lIns="0" tIns="0" rIns="0" bIns="0" anchor="t" anchorCtr="0">
            <a:noAutofit/>
          </a:bodyPr>
          <a:lstStyle/>
          <a:p>
            <a:pPr marL="0" marR="0" lvl="0" indent="0" algn="l" rtl="0">
              <a:lnSpc>
                <a:spcPct val="159414"/>
              </a:lnSpc>
              <a:spcBef>
                <a:spcPts val="0"/>
              </a:spcBef>
              <a:spcAft>
                <a:spcPts val="0"/>
              </a:spcAft>
              <a:buClr>
                <a:srgbClr val="384653"/>
              </a:buClr>
              <a:buSzPts val="1333"/>
              <a:buFont typeface="Montserrat"/>
              <a:buNone/>
            </a:pPr>
            <a:r>
              <a:rPr lang="en-US" sz="1333" b="0" i="0" u="none" strike="noStrike" cap="none">
                <a:solidFill>
                  <a:srgbClr val="384653"/>
                </a:solidFill>
                <a:latin typeface="Montserrat"/>
                <a:ea typeface="Montserrat"/>
                <a:cs typeface="Montserrat"/>
                <a:sym typeface="Montserrat"/>
              </a:rPr>
              <a:t>Future-proof design for integration with environmental sensors and weather APIs.</a:t>
            </a:r>
            <a:endParaRPr sz="1333" b="0" i="0"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8"/>
          <p:cNvSpPr/>
          <p:nvPr/>
        </p:nvSpPr>
        <p:spPr>
          <a:xfrm>
            <a:off x="631924" y="661294"/>
            <a:ext cx="4751288" cy="593923"/>
          </a:xfrm>
          <a:prstGeom prst="rect">
            <a:avLst/>
          </a:prstGeom>
          <a:noFill/>
          <a:ln>
            <a:noFill/>
          </a:ln>
        </p:spPr>
        <p:txBody>
          <a:bodyPr spcFirstLastPara="1" wrap="square" lIns="0" tIns="0" rIns="0" bIns="0" anchor="t" anchorCtr="0">
            <a:noAutofit/>
          </a:bodyPr>
          <a:lstStyle/>
          <a:p>
            <a:pPr marL="0" marR="0" lvl="0" indent="0" algn="l" rtl="0">
              <a:lnSpc>
                <a:spcPct val="125836"/>
              </a:lnSpc>
              <a:spcBef>
                <a:spcPts val="0"/>
              </a:spcBef>
              <a:spcAft>
                <a:spcPts val="0"/>
              </a:spcAft>
              <a:buClr>
                <a:srgbClr val="2E3C4E"/>
              </a:buClr>
              <a:buSzPts val="3708"/>
              <a:buFont typeface="Barlow"/>
              <a:buNone/>
            </a:pPr>
            <a:r>
              <a:rPr lang="en-US" sz="3708" b="1" i="0" u="none" strike="noStrike" cap="none">
                <a:solidFill>
                  <a:srgbClr val="2E3C4E"/>
                </a:solidFill>
                <a:latin typeface="Barlow"/>
                <a:ea typeface="Barlow"/>
                <a:cs typeface="Barlow"/>
                <a:sym typeface="Barlow"/>
              </a:rPr>
              <a:t>Related Work</a:t>
            </a:r>
            <a:endParaRPr sz="3708" b="0" i="0" u="none" strike="noStrike" cap="none">
              <a:solidFill>
                <a:schemeClr val="dk1"/>
              </a:solidFill>
              <a:latin typeface="Arial"/>
              <a:ea typeface="Arial"/>
              <a:cs typeface="Arial"/>
              <a:sym typeface="Arial"/>
            </a:endParaRPr>
          </a:p>
        </p:txBody>
      </p:sp>
      <p:sp>
        <p:nvSpPr>
          <p:cNvPr id="219" name="Google Shape;219;p28"/>
          <p:cNvSpPr/>
          <p:nvPr/>
        </p:nvSpPr>
        <p:spPr>
          <a:xfrm>
            <a:off x="631924" y="1616273"/>
            <a:ext cx="10928152" cy="8667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The rapid integration of IoT in agriculture has led to significant developments in smart irrigation and automation systems. Various microcontroller-based solutions have been explored for precision farming, aiming to reduce resource wastage, improve crop yield, and minimise labour requirements.</a:t>
            </a:r>
            <a:endParaRPr sz="1417" b="0" i="0" u="none" strike="noStrike" cap="none">
              <a:solidFill>
                <a:schemeClr val="dk1"/>
              </a:solidFill>
              <a:latin typeface="Arial"/>
              <a:ea typeface="Arial"/>
              <a:cs typeface="Arial"/>
              <a:sym typeface="Arial"/>
            </a:endParaRPr>
          </a:p>
        </p:txBody>
      </p:sp>
      <p:sp>
        <p:nvSpPr>
          <p:cNvPr id="220" name="Google Shape;220;p28"/>
          <p:cNvSpPr/>
          <p:nvPr/>
        </p:nvSpPr>
        <p:spPr>
          <a:xfrm>
            <a:off x="631925" y="2866629"/>
            <a:ext cx="2375594"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2E3C4E"/>
              </a:buClr>
              <a:buSzPts val="1833"/>
              <a:buFont typeface="Barlow"/>
              <a:buNone/>
            </a:pPr>
            <a:r>
              <a:rPr lang="en-US" sz="1833" b="1" i="0" u="none" strike="noStrike" cap="none">
                <a:solidFill>
                  <a:srgbClr val="2E3C4E"/>
                </a:solidFill>
                <a:latin typeface="Barlow"/>
                <a:ea typeface="Barlow"/>
                <a:cs typeface="Barlow"/>
                <a:sym typeface="Barlow"/>
              </a:rPr>
              <a:t>Existing Solutions</a:t>
            </a:r>
            <a:endParaRPr sz="1833" b="0" i="0" u="none" strike="noStrike" cap="none">
              <a:solidFill>
                <a:schemeClr val="dk1"/>
              </a:solidFill>
              <a:latin typeface="Arial"/>
              <a:ea typeface="Arial"/>
              <a:cs typeface="Arial"/>
              <a:sym typeface="Arial"/>
            </a:endParaRPr>
          </a:p>
        </p:txBody>
      </p:sp>
      <p:sp>
        <p:nvSpPr>
          <p:cNvPr id="221" name="Google Shape;221;p28"/>
          <p:cNvSpPr/>
          <p:nvPr/>
        </p:nvSpPr>
        <p:spPr>
          <a:xfrm>
            <a:off x="631924" y="3343969"/>
            <a:ext cx="5243810" cy="577850"/>
          </a:xfrm>
          <a:prstGeom prst="rect">
            <a:avLst/>
          </a:prstGeom>
          <a:noFill/>
          <a:ln>
            <a:noFill/>
          </a:ln>
        </p:spPr>
        <p:txBody>
          <a:bodyPr spcFirstLastPara="1" wrap="square" lIns="0" tIns="0" rIns="0" bIns="0" anchor="t" anchorCtr="0">
            <a:noAutofit/>
          </a:bodyPr>
          <a:lstStyle/>
          <a:p>
            <a:pPr marL="285739" marR="0" lvl="0" indent="-285739" algn="l" rtl="0">
              <a:lnSpc>
                <a:spcPct val="158786"/>
              </a:lnSpc>
              <a:spcBef>
                <a:spcPts val="0"/>
              </a:spcBef>
              <a:spcAft>
                <a:spcPts val="0"/>
              </a:spcAft>
              <a:buClr>
                <a:srgbClr val="384653"/>
              </a:buClr>
              <a:buSzPts val="1417"/>
              <a:buFont typeface="Montserrat"/>
              <a:buChar char="•"/>
            </a:pPr>
            <a:r>
              <a:rPr lang="en-US" sz="1417" b="0" i="0" u="none" strike="noStrike" cap="none">
                <a:solidFill>
                  <a:srgbClr val="384653"/>
                </a:solidFill>
                <a:latin typeface="Montserrat"/>
                <a:ea typeface="Montserrat"/>
                <a:cs typeface="Montserrat"/>
                <a:sym typeface="Montserrat"/>
              </a:rPr>
              <a:t>Use of NodeMCU or ESP8266 modules to control actuators via mobile applications.</a:t>
            </a:r>
            <a:endParaRPr sz="1417" b="0" i="0" u="none" strike="noStrike" cap="none">
              <a:solidFill>
                <a:schemeClr val="dk1"/>
              </a:solidFill>
              <a:latin typeface="Arial"/>
              <a:ea typeface="Arial"/>
              <a:cs typeface="Arial"/>
              <a:sym typeface="Arial"/>
            </a:endParaRPr>
          </a:p>
        </p:txBody>
      </p:sp>
      <p:sp>
        <p:nvSpPr>
          <p:cNvPr id="222" name="Google Shape;222;p28"/>
          <p:cNvSpPr/>
          <p:nvPr/>
        </p:nvSpPr>
        <p:spPr>
          <a:xfrm>
            <a:off x="631924" y="3984923"/>
            <a:ext cx="5243810" cy="577850"/>
          </a:xfrm>
          <a:prstGeom prst="rect">
            <a:avLst/>
          </a:prstGeom>
          <a:noFill/>
          <a:ln>
            <a:noFill/>
          </a:ln>
        </p:spPr>
        <p:txBody>
          <a:bodyPr spcFirstLastPara="1" wrap="square" lIns="0" tIns="0" rIns="0" bIns="0" anchor="t" anchorCtr="0">
            <a:noAutofit/>
          </a:bodyPr>
          <a:lstStyle/>
          <a:p>
            <a:pPr marL="285739" marR="0" lvl="0" indent="-285739" algn="l" rtl="0">
              <a:lnSpc>
                <a:spcPct val="158786"/>
              </a:lnSpc>
              <a:spcBef>
                <a:spcPts val="0"/>
              </a:spcBef>
              <a:spcAft>
                <a:spcPts val="0"/>
              </a:spcAft>
              <a:buClr>
                <a:srgbClr val="384653"/>
              </a:buClr>
              <a:buSzPts val="1417"/>
              <a:buFont typeface="Montserrat"/>
              <a:buChar char="•"/>
            </a:pPr>
            <a:r>
              <a:rPr lang="en-US" sz="1417" b="0" i="0" u="none" strike="noStrike" cap="none">
                <a:solidFill>
                  <a:srgbClr val="384653"/>
                </a:solidFill>
                <a:latin typeface="Montserrat"/>
                <a:ea typeface="Montserrat"/>
                <a:cs typeface="Montserrat"/>
                <a:sym typeface="Montserrat"/>
              </a:rPr>
              <a:t>Integration of Firebase Realtime Database for real-time data monitoring and remote control.</a:t>
            </a:r>
            <a:endParaRPr sz="1417" b="0" i="0" u="none" strike="noStrike" cap="none">
              <a:solidFill>
                <a:schemeClr val="dk1"/>
              </a:solidFill>
              <a:latin typeface="Arial"/>
              <a:ea typeface="Arial"/>
              <a:cs typeface="Arial"/>
              <a:sym typeface="Arial"/>
            </a:endParaRPr>
          </a:p>
        </p:txBody>
      </p:sp>
      <p:sp>
        <p:nvSpPr>
          <p:cNvPr id="223" name="Google Shape;223;p28"/>
          <p:cNvSpPr/>
          <p:nvPr/>
        </p:nvSpPr>
        <p:spPr>
          <a:xfrm>
            <a:off x="631924" y="4625876"/>
            <a:ext cx="5243810" cy="577850"/>
          </a:xfrm>
          <a:prstGeom prst="rect">
            <a:avLst/>
          </a:prstGeom>
          <a:noFill/>
          <a:ln>
            <a:noFill/>
          </a:ln>
        </p:spPr>
        <p:txBody>
          <a:bodyPr spcFirstLastPara="1" wrap="square" lIns="0" tIns="0" rIns="0" bIns="0" anchor="t" anchorCtr="0">
            <a:noAutofit/>
          </a:bodyPr>
          <a:lstStyle/>
          <a:p>
            <a:pPr marL="285739" marR="0" lvl="0" indent="-285739" algn="l" rtl="0">
              <a:lnSpc>
                <a:spcPct val="158786"/>
              </a:lnSpc>
              <a:spcBef>
                <a:spcPts val="0"/>
              </a:spcBef>
              <a:spcAft>
                <a:spcPts val="0"/>
              </a:spcAft>
              <a:buClr>
                <a:srgbClr val="384653"/>
              </a:buClr>
              <a:buSzPts val="1417"/>
              <a:buFont typeface="Montserrat"/>
              <a:buChar char="•"/>
            </a:pPr>
            <a:r>
              <a:rPr lang="en-US" sz="1417" b="0" i="0" u="none" strike="noStrike" cap="none">
                <a:solidFill>
                  <a:srgbClr val="384653"/>
                </a:solidFill>
                <a:latin typeface="Montserrat"/>
                <a:ea typeface="Montserrat"/>
                <a:cs typeface="Montserrat"/>
                <a:sym typeface="Montserrat"/>
              </a:rPr>
              <a:t>Deployment of solenoid valves and relay modules for automating liquid dispensing.</a:t>
            </a:r>
            <a:endParaRPr sz="1417" b="0" i="0" u="none" strike="noStrike" cap="none">
              <a:solidFill>
                <a:schemeClr val="dk1"/>
              </a:solidFill>
              <a:latin typeface="Arial"/>
              <a:ea typeface="Arial"/>
              <a:cs typeface="Arial"/>
              <a:sym typeface="Arial"/>
            </a:endParaRPr>
          </a:p>
        </p:txBody>
      </p:sp>
      <p:sp>
        <p:nvSpPr>
          <p:cNvPr id="224" name="Google Shape;224;p28"/>
          <p:cNvSpPr/>
          <p:nvPr/>
        </p:nvSpPr>
        <p:spPr>
          <a:xfrm>
            <a:off x="631924" y="5266829"/>
            <a:ext cx="5243810" cy="866775"/>
          </a:xfrm>
          <a:prstGeom prst="rect">
            <a:avLst/>
          </a:prstGeom>
          <a:noFill/>
          <a:ln>
            <a:noFill/>
          </a:ln>
        </p:spPr>
        <p:txBody>
          <a:bodyPr spcFirstLastPara="1" wrap="square" lIns="0" tIns="0" rIns="0" bIns="0" anchor="t" anchorCtr="0">
            <a:noAutofit/>
          </a:bodyPr>
          <a:lstStyle/>
          <a:p>
            <a:pPr marL="285739" marR="0" lvl="0" indent="-285739" algn="l" rtl="0">
              <a:lnSpc>
                <a:spcPct val="158786"/>
              </a:lnSpc>
              <a:spcBef>
                <a:spcPts val="0"/>
              </a:spcBef>
              <a:spcAft>
                <a:spcPts val="0"/>
              </a:spcAft>
              <a:buClr>
                <a:srgbClr val="384653"/>
              </a:buClr>
              <a:buSzPts val="1417"/>
              <a:buFont typeface="Montserrat"/>
              <a:buChar char="•"/>
            </a:pPr>
            <a:r>
              <a:rPr lang="en-US" sz="1417" b="0" i="0" u="none" strike="noStrike" cap="none">
                <a:solidFill>
                  <a:srgbClr val="384653"/>
                </a:solidFill>
                <a:latin typeface="Montserrat"/>
                <a:ea typeface="Montserrat"/>
                <a:cs typeface="Montserrat"/>
                <a:sym typeface="Montserrat"/>
              </a:rPr>
              <a:t>Development of mobile-based graphical interfaces using platforms such as MIT App Inventor, Android Studio, or custom-built apps.</a:t>
            </a:r>
            <a:endParaRPr sz="1417" b="0" i="0" u="none" strike="noStrike" cap="none">
              <a:solidFill>
                <a:schemeClr val="dk1"/>
              </a:solidFill>
              <a:latin typeface="Arial"/>
              <a:ea typeface="Arial"/>
              <a:cs typeface="Arial"/>
              <a:sym typeface="Arial"/>
            </a:endParaRPr>
          </a:p>
        </p:txBody>
      </p:sp>
      <p:sp>
        <p:nvSpPr>
          <p:cNvPr id="225" name="Google Shape;225;p28"/>
          <p:cNvSpPr/>
          <p:nvPr/>
        </p:nvSpPr>
        <p:spPr>
          <a:xfrm>
            <a:off x="6322616" y="2866629"/>
            <a:ext cx="2375594"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2E3C4E"/>
              </a:buClr>
              <a:buSzPts val="1833"/>
              <a:buFont typeface="Barlow"/>
              <a:buNone/>
            </a:pPr>
            <a:r>
              <a:rPr lang="en-US" sz="1833" b="1" i="0" u="none" strike="noStrike" cap="none">
                <a:solidFill>
                  <a:srgbClr val="2E3C4E"/>
                </a:solidFill>
                <a:latin typeface="Barlow"/>
                <a:ea typeface="Barlow"/>
                <a:cs typeface="Barlow"/>
                <a:sym typeface="Barlow"/>
              </a:rPr>
              <a:t>The Gap</a:t>
            </a:r>
            <a:endParaRPr sz="1833" b="0" i="0" u="none" strike="noStrike" cap="none">
              <a:solidFill>
                <a:schemeClr val="dk1"/>
              </a:solidFill>
              <a:latin typeface="Arial"/>
              <a:ea typeface="Arial"/>
              <a:cs typeface="Arial"/>
              <a:sym typeface="Arial"/>
            </a:endParaRPr>
          </a:p>
        </p:txBody>
      </p:sp>
      <p:sp>
        <p:nvSpPr>
          <p:cNvPr id="226" name="Google Shape;226;p28"/>
          <p:cNvSpPr/>
          <p:nvPr/>
        </p:nvSpPr>
        <p:spPr>
          <a:xfrm>
            <a:off x="6322616" y="3343969"/>
            <a:ext cx="5243810" cy="20224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While existing solutions offer partial automation, there's a need for a low-cost, compact, and modular spraying solution specifically designed for small-scale farms and urban farming scenarios like terrace gardens. Traditional timer-based systems are rigid and lack adaptability to dynamic agricultural needs, often leading to resource wastage.</a:t>
            </a:r>
            <a:endParaRPr sz="1417" b="0" i="0" u="none" strike="noStrike" cap="none">
              <a:solidFill>
                <a:schemeClr val="dk1"/>
              </a:solidFill>
              <a:latin typeface="Arial"/>
              <a:ea typeface="Arial"/>
              <a:cs typeface="Arial"/>
              <a:sym typeface="Arial"/>
            </a:endParaRPr>
          </a:p>
        </p:txBody>
      </p:sp>
      <p:pic>
        <p:nvPicPr>
          <p:cNvPr id="227" name="Google Shape;227;p28" descr="A white background with black dots&#10;&#10;AI-generated content may be incorrect."/>
          <p:cNvPicPr preferRelativeResize="0"/>
          <p:nvPr/>
        </p:nvPicPr>
        <p:blipFill rotWithShape="1">
          <a:blip r:embed="rId3">
            <a:alphaModFix/>
          </a:blip>
          <a:srcRect/>
          <a:stretch/>
        </p:blipFill>
        <p:spPr>
          <a:xfrm>
            <a:off x="9886950" y="6283699"/>
            <a:ext cx="2301689" cy="57710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9"/>
          <p:cNvSpPr/>
          <p:nvPr/>
        </p:nvSpPr>
        <p:spPr>
          <a:xfrm>
            <a:off x="631924" y="507703"/>
            <a:ext cx="4751288" cy="593923"/>
          </a:xfrm>
          <a:prstGeom prst="rect">
            <a:avLst/>
          </a:prstGeom>
          <a:noFill/>
          <a:ln>
            <a:noFill/>
          </a:ln>
        </p:spPr>
        <p:txBody>
          <a:bodyPr spcFirstLastPara="1" wrap="square" lIns="0" tIns="0" rIns="0" bIns="0" anchor="t" anchorCtr="0">
            <a:noAutofit/>
          </a:bodyPr>
          <a:lstStyle/>
          <a:p>
            <a:pPr marL="0" marR="0" lvl="0" indent="0" algn="l" rtl="0">
              <a:lnSpc>
                <a:spcPct val="125836"/>
              </a:lnSpc>
              <a:spcBef>
                <a:spcPts val="0"/>
              </a:spcBef>
              <a:spcAft>
                <a:spcPts val="0"/>
              </a:spcAft>
              <a:buClr>
                <a:srgbClr val="2E3C4E"/>
              </a:buClr>
              <a:buSzPts val="3708"/>
              <a:buFont typeface="Barlow"/>
              <a:buNone/>
            </a:pPr>
            <a:r>
              <a:rPr lang="en-US" sz="3708" b="1" i="0" u="none" strike="noStrike" cap="none">
                <a:solidFill>
                  <a:srgbClr val="2E3C4E"/>
                </a:solidFill>
                <a:latin typeface="Barlow"/>
                <a:ea typeface="Barlow"/>
                <a:cs typeface="Barlow"/>
                <a:sym typeface="Barlow"/>
              </a:rPr>
              <a:t>Core Technologies</a:t>
            </a:r>
            <a:endParaRPr sz="3708" b="0" i="0" u="none" strike="noStrike" cap="none">
              <a:solidFill>
                <a:schemeClr val="dk1"/>
              </a:solidFill>
              <a:latin typeface="Arial"/>
              <a:ea typeface="Arial"/>
              <a:cs typeface="Arial"/>
              <a:sym typeface="Arial"/>
            </a:endParaRPr>
          </a:p>
        </p:txBody>
      </p:sp>
      <p:sp>
        <p:nvSpPr>
          <p:cNvPr id="234" name="Google Shape;234;p29"/>
          <p:cNvSpPr/>
          <p:nvPr/>
        </p:nvSpPr>
        <p:spPr>
          <a:xfrm>
            <a:off x="631924" y="1462683"/>
            <a:ext cx="10928152" cy="8667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The S</a:t>
            </a:r>
            <a:r>
              <a:rPr lang="en-US" sz="1417">
                <a:solidFill>
                  <a:srgbClr val="384653"/>
                </a:solidFill>
                <a:latin typeface="Montserrat"/>
                <a:ea typeface="Montserrat"/>
                <a:cs typeface="Montserrat"/>
                <a:sym typeface="Montserrat"/>
              </a:rPr>
              <a:t>PRINT</a:t>
            </a:r>
            <a:r>
              <a:rPr lang="en-US" sz="1417" b="0" i="0" u="none" strike="noStrike" cap="none">
                <a:solidFill>
                  <a:srgbClr val="384653"/>
                </a:solidFill>
                <a:latin typeface="Montserrat"/>
                <a:ea typeface="Montserrat"/>
                <a:cs typeface="Montserrat"/>
                <a:sym typeface="Montserrat"/>
              </a:rPr>
              <a:t> leverages several core technologies to achieve remote and automated control. At its heart is the ESP-01 Wi-Fi Microcontroller, enabling seamless wireless communication. Firebase Realtime Database acts as the cloud backend, facilitating real-time data exchange and command execution.</a:t>
            </a:r>
            <a:endParaRPr sz="1417" b="0" i="0" u="none" strike="noStrike" cap="none">
              <a:solidFill>
                <a:schemeClr val="dk1"/>
              </a:solidFill>
              <a:latin typeface="Arial"/>
              <a:ea typeface="Arial"/>
              <a:cs typeface="Arial"/>
              <a:sym typeface="Arial"/>
            </a:endParaRPr>
          </a:p>
        </p:txBody>
      </p:sp>
      <p:sp>
        <p:nvSpPr>
          <p:cNvPr id="235" name="Google Shape;235;p29"/>
          <p:cNvSpPr/>
          <p:nvPr/>
        </p:nvSpPr>
        <p:spPr>
          <a:xfrm>
            <a:off x="631924" y="2532558"/>
            <a:ext cx="10928152" cy="8667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A custom Android application provides the user interface for remote operation. Physical actuation is managed by solenoid valves, a pressure pump, and relay modules, ensuring precise and controlled dispensing of liquids. These components collectively form a robust and efficient smart farming solution.</a:t>
            </a:r>
            <a:endParaRPr sz="1417" b="0" i="0" u="none" strike="noStrike" cap="none">
              <a:solidFill>
                <a:schemeClr val="dk1"/>
              </a:solidFill>
              <a:latin typeface="Arial"/>
              <a:ea typeface="Arial"/>
              <a:cs typeface="Arial"/>
              <a:sym typeface="Arial"/>
            </a:endParaRPr>
          </a:p>
        </p:txBody>
      </p:sp>
      <p:sp>
        <p:nvSpPr>
          <p:cNvPr id="236" name="Google Shape;236;p29"/>
          <p:cNvSpPr/>
          <p:nvPr/>
        </p:nvSpPr>
        <p:spPr>
          <a:xfrm>
            <a:off x="631924" y="3602434"/>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7" name="Google Shape;237;p29" descr="preencoded.png"/>
          <p:cNvPicPr preferRelativeResize="0"/>
          <p:nvPr/>
        </p:nvPicPr>
        <p:blipFill rotWithShape="1">
          <a:blip r:embed="rId3">
            <a:alphaModFix/>
          </a:blip>
          <a:srcRect/>
          <a:stretch/>
        </p:blipFill>
        <p:spPr>
          <a:xfrm>
            <a:off x="692498" y="3627388"/>
            <a:ext cx="285056" cy="356294"/>
          </a:xfrm>
          <a:prstGeom prst="rect">
            <a:avLst/>
          </a:prstGeom>
          <a:noFill/>
          <a:ln>
            <a:noFill/>
          </a:ln>
        </p:spPr>
      </p:pic>
      <p:sp>
        <p:nvSpPr>
          <p:cNvPr id="238" name="Google Shape;238;p29"/>
          <p:cNvSpPr/>
          <p:nvPr/>
        </p:nvSpPr>
        <p:spPr>
          <a:xfrm>
            <a:off x="1218605" y="3664446"/>
            <a:ext cx="2997200"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ESP-01 Wi-Fi Microcontroller</a:t>
            </a:r>
            <a:endParaRPr sz="1833" b="0" i="0" u="none" strike="noStrike" cap="none">
              <a:solidFill>
                <a:schemeClr val="dk1"/>
              </a:solidFill>
              <a:latin typeface="Arial"/>
              <a:ea typeface="Arial"/>
              <a:cs typeface="Arial"/>
              <a:sym typeface="Arial"/>
            </a:endParaRPr>
          </a:p>
        </p:txBody>
      </p:sp>
      <p:sp>
        <p:nvSpPr>
          <p:cNvPr id="239" name="Google Shape;239;p29"/>
          <p:cNvSpPr/>
          <p:nvPr/>
        </p:nvSpPr>
        <p:spPr>
          <a:xfrm>
            <a:off x="1218605" y="4069557"/>
            <a:ext cx="4764583" cy="577850"/>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The central processing unit for wireless communication and control.</a:t>
            </a:r>
            <a:endParaRPr sz="1417" b="0" i="0" u="none" strike="noStrike" cap="none">
              <a:solidFill>
                <a:schemeClr val="dk1"/>
              </a:solidFill>
              <a:latin typeface="Arial"/>
              <a:ea typeface="Arial"/>
              <a:cs typeface="Arial"/>
              <a:sym typeface="Arial"/>
            </a:endParaRPr>
          </a:p>
        </p:txBody>
      </p:sp>
      <p:sp>
        <p:nvSpPr>
          <p:cNvPr id="240" name="Google Shape;240;p29"/>
          <p:cNvSpPr/>
          <p:nvPr/>
        </p:nvSpPr>
        <p:spPr>
          <a:xfrm>
            <a:off x="6208812" y="3602434"/>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1" name="Google Shape;241;p29" descr="preencoded.png"/>
          <p:cNvPicPr preferRelativeResize="0"/>
          <p:nvPr/>
        </p:nvPicPr>
        <p:blipFill rotWithShape="1">
          <a:blip r:embed="rId4">
            <a:alphaModFix/>
          </a:blip>
          <a:srcRect/>
          <a:stretch/>
        </p:blipFill>
        <p:spPr>
          <a:xfrm>
            <a:off x="6269385" y="3627388"/>
            <a:ext cx="285056" cy="356294"/>
          </a:xfrm>
          <a:prstGeom prst="rect">
            <a:avLst/>
          </a:prstGeom>
          <a:noFill/>
          <a:ln>
            <a:noFill/>
          </a:ln>
        </p:spPr>
      </p:pic>
      <p:sp>
        <p:nvSpPr>
          <p:cNvPr id="242" name="Google Shape;242;p29"/>
          <p:cNvSpPr/>
          <p:nvPr/>
        </p:nvSpPr>
        <p:spPr>
          <a:xfrm>
            <a:off x="6795493" y="3664446"/>
            <a:ext cx="2942531"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Firebase Realtime Database</a:t>
            </a:r>
            <a:endParaRPr sz="1833" b="0" i="0" u="none" strike="noStrike" cap="none">
              <a:solidFill>
                <a:schemeClr val="dk1"/>
              </a:solidFill>
              <a:latin typeface="Arial"/>
              <a:ea typeface="Arial"/>
              <a:cs typeface="Arial"/>
              <a:sym typeface="Arial"/>
            </a:endParaRPr>
          </a:p>
        </p:txBody>
      </p:sp>
      <p:sp>
        <p:nvSpPr>
          <p:cNvPr id="243" name="Google Shape;243;p29"/>
          <p:cNvSpPr/>
          <p:nvPr/>
        </p:nvSpPr>
        <p:spPr>
          <a:xfrm>
            <a:off x="6795493" y="4069557"/>
            <a:ext cx="4764583" cy="577850"/>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Cloud-based backend for real-time data synchronisation and command storage.</a:t>
            </a:r>
            <a:endParaRPr sz="1417" b="0" i="0" u="none" strike="noStrike" cap="none">
              <a:solidFill>
                <a:schemeClr val="dk1"/>
              </a:solidFill>
              <a:latin typeface="Arial"/>
              <a:ea typeface="Arial"/>
              <a:cs typeface="Arial"/>
              <a:sym typeface="Arial"/>
            </a:endParaRPr>
          </a:p>
        </p:txBody>
      </p:sp>
      <p:sp>
        <p:nvSpPr>
          <p:cNvPr id="244" name="Google Shape;244;p29"/>
          <p:cNvSpPr/>
          <p:nvPr/>
        </p:nvSpPr>
        <p:spPr>
          <a:xfrm>
            <a:off x="631924" y="5008463"/>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5" name="Google Shape;245;p29" descr="preencoded.png"/>
          <p:cNvPicPr preferRelativeResize="0"/>
          <p:nvPr/>
        </p:nvPicPr>
        <p:blipFill rotWithShape="1">
          <a:blip r:embed="rId5">
            <a:alphaModFix/>
          </a:blip>
          <a:srcRect/>
          <a:stretch/>
        </p:blipFill>
        <p:spPr>
          <a:xfrm>
            <a:off x="692498" y="5033417"/>
            <a:ext cx="285056" cy="356294"/>
          </a:xfrm>
          <a:prstGeom prst="rect">
            <a:avLst/>
          </a:prstGeom>
          <a:noFill/>
          <a:ln>
            <a:noFill/>
          </a:ln>
        </p:spPr>
      </p:pic>
      <p:sp>
        <p:nvSpPr>
          <p:cNvPr id="246" name="Google Shape;246;p29"/>
          <p:cNvSpPr/>
          <p:nvPr/>
        </p:nvSpPr>
        <p:spPr>
          <a:xfrm>
            <a:off x="1218606" y="5070475"/>
            <a:ext cx="2375594"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Android App</a:t>
            </a:r>
            <a:endParaRPr sz="1833" b="0" i="0" u="none" strike="noStrike" cap="none">
              <a:solidFill>
                <a:schemeClr val="dk1"/>
              </a:solidFill>
              <a:latin typeface="Arial"/>
              <a:ea typeface="Arial"/>
              <a:cs typeface="Arial"/>
              <a:sym typeface="Arial"/>
            </a:endParaRPr>
          </a:p>
        </p:txBody>
      </p:sp>
      <p:sp>
        <p:nvSpPr>
          <p:cNvPr id="247" name="Google Shape;247;p29"/>
          <p:cNvSpPr/>
          <p:nvPr/>
        </p:nvSpPr>
        <p:spPr>
          <a:xfrm>
            <a:off x="1218605" y="5475585"/>
            <a:ext cx="4764583" cy="577850"/>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User interface for remote operation and system monitoring.</a:t>
            </a:r>
            <a:endParaRPr sz="1417" b="0" i="0" u="none" strike="noStrike" cap="none">
              <a:solidFill>
                <a:schemeClr val="dk1"/>
              </a:solidFill>
              <a:latin typeface="Arial"/>
              <a:ea typeface="Arial"/>
              <a:cs typeface="Arial"/>
              <a:sym typeface="Arial"/>
            </a:endParaRPr>
          </a:p>
        </p:txBody>
      </p:sp>
      <p:sp>
        <p:nvSpPr>
          <p:cNvPr id="248" name="Google Shape;248;p29"/>
          <p:cNvSpPr/>
          <p:nvPr/>
        </p:nvSpPr>
        <p:spPr>
          <a:xfrm>
            <a:off x="6208812" y="5008463"/>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9" name="Google Shape;249;p29" descr="preencoded.png"/>
          <p:cNvPicPr preferRelativeResize="0"/>
          <p:nvPr/>
        </p:nvPicPr>
        <p:blipFill rotWithShape="1">
          <a:blip r:embed="rId6">
            <a:alphaModFix/>
          </a:blip>
          <a:srcRect/>
          <a:stretch/>
        </p:blipFill>
        <p:spPr>
          <a:xfrm>
            <a:off x="6269385" y="5033417"/>
            <a:ext cx="285056" cy="356294"/>
          </a:xfrm>
          <a:prstGeom prst="rect">
            <a:avLst/>
          </a:prstGeom>
          <a:noFill/>
          <a:ln>
            <a:noFill/>
          </a:ln>
        </p:spPr>
      </p:pic>
      <p:sp>
        <p:nvSpPr>
          <p:cNvPr id="250" name="Google Shape;250;p29"/>
          <p:cNvSpPr/>
          <p:nvPr/>
        </p:nvSpPr>
        <p:spPr>
          <a:xfrm>
            <a:off x="6795493" y="5070475"/>
            <a:ext cx="4764583" cy="593725"/>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Solenoid Valve, Pressure Pump, Relay Modules</a:t>
            </a:r>
            <a:endParaRPr sz="1833" b="0" i="0" u="none" strike="noStrike" cap="none">
              <a:solidFill>
                <a:schemeClr val="dk1"/>
              </a:solidFill>
              <a:latin typeface="Arial"/>
              <a:ea typeface="Arial"/>
              <a:cs typeface="Arial"/>
              <a:sym typeface="Arial"/>
            </a:endParaRPr>
          </a:p>
        </p:txBody>
      </p:sp>
      <p:sp>
        <p:nvSpPr>
          <p:cNvPr id="251" name="Google Shape;251;p29"/>
          <p:cNvSpPr/>
          <p:nvPr/>
        </p:nvSpPr>
        <p:spPr>
          <a:xfrm>
            <a:off x="6795493" y="5772448"/>
            <a:ext cx="4764583" cy="577850"/>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Actuation components for controlled liquid dispensing.</a:t>
            </a:r>
            <a:endParaRPr sz="1417" b="0" i="0" u="none" strike="noStrike" cap="none">
              <a:solidFill>
                <a:schemeClr val="dk1"/>
              </a:solidFill>
              <a:latin typeface="Arial"/>
              <a:ea typeface="Arial"/>
              <a:cs typeface="Arial"/>
              <a:sym typeface="Arial"/>
            </a:endParaRPr>
          </a:p>
        </p:txBody>
      </p:sp>
      <p:pic>
        <p:nvPicPr>
          <p:cNvPr id="252" name="Google Shape;252;p29" descr="A white background with black dots&#10;&#10;AI-generated content may be incorrect."/>
          <p:cNvPicPr preferRelativeResize="0"/>
          <p:nvPr/>
        </p:nvPicPr>
        <p:blipFill rotWithShape="1">
          <a:blip r:embed="rId7">
            <a:alphaModFix/>
          </a:blip>
          <a:srcRect/>
          <a:stretch/>
        </p:blipFill>
        <p:spPr>
          <a:xfrm>
            <a:off x="9886950" y="6283699"/>
            <a:ext cx="2301689" cy="5771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0"/>
          <p:cNvSpPr/>
          <p:nvPr/>
        </p:nvSpPr>
        <p:spPr>
          <a:xfrm>
            <a:off x="470098" y="370483"/>
            <a:ext cx="3535065" cy="441821"/>
          </a:xfrm>
          <a:prstGeom prst="rect">
            <a:avLst/>
          </a:prstGeom>
          <a:noFill/>
          <a:ln>
            <a:noFill/>
          </a:ln>
        </p:spPr>
        <p:txBody>
          <a:bodyPr spcFirstLastPara="1" wrap="square" lIns="0" tIns="0" rIns="0" bIns="0" anchor="t" anchorCtr="0">
            <a:noAutofit/>
          </a:bodyPr>
          <a:lstStyle/>
          <a:p>
            <a:pPr marL="0" marR="0" lvl="0" indent="0" algn="l" rtl="0">
              <a:lnSpc>
                <a:spcPct val="125745"/>
              </a:lnSpc>
              <a:spcBef>
                <a:spcPts val="0"/>
              </a:spcBef>
              <a:spcAft>
                <a:spcPts val="0"/>
              </a:spcAft>
              <a:buClr>
                <a:srgbClr val="2E3C4E"/>
              </a:buClr>
              <a:buSzPts val="2750"/>
              <a:buFont typeface="Barlow"/>
              <a:buNone/>
            </a:pPr>
            <a:r>
              <a:rPr lang="en-US" sz="2750" b="1" i="0" u="none" strike="noStrike" cap="none">
                <a:solidFill>
                  <a:srgbClr val="2E3C4E"/>
                </a:solidFill>
                <a:latin typeface="Barlow"/>
                <a:ea typeface="Barlow"/>
                <a:cs typeface="Barlow"/>
                <a:sym typeface="Barlow"/>
              </a:rPr>
              <a:t>System Overview</a:t>
            </a:r>
            <a:endParaRPr sz="2750" b="0" i="0" u="none" strike="noStrike" cap="none">
              <a:solidFill>
                <a:schemeClr val="dk1"/>
              </a:solidFill>
              <a:latin typeface="Arial"/>
              <a:ea typeface="Arial"/>
              <a:cs typeface="Arial"/>
              <a:sym typeface="Arial"/>
            </a:endParaRPr>
          </a:p>
        </p:txBody>
      </p:sp>
      <p:sp>
        <p:nvSpPr>
          <p:cNvPr id="259" name="Google Shape;259;p30"/>
          <p:cNvSpPr/>
          <p:nvPr/>
        </p:nvSpPr>
        <p:spPr>
          <a:xfrm>
            <a:off x="470099" y="1080889"/>
            <a:ext cx="11251803" cy="644723"/>
          </a:xfrm>
          <a:prstGeom prst="rect">
            <a:avLst/>
          </a:prstGeom>
          <a:noFill/>
          <a:ln>
            <a:noFill/>
          </a:ln>
        </p:spPr>
        <p:txBody>
          <a:bodyPr spcFirstLastPara="1" wrap="square" lIns="0" tIns="0" rIns="0" bIns="0" anchor="t" anchorCtr="0">
            <a:noAutofit/>
          </a:bodyPr>
          <a:lstStyle/>
          <a:p>
            <a:pPr marL="0" marR="0" lvl="0" indent="0" algn="l" rtl="0">
              <a:lnSpc>
                <a:spcPct val="159980"/>
              </a:lnSpc>
              <a:spcBef>
                <a:spcPts val="0"/>
              </a:spcBef>
              <a:spcAft>
                <a:spcPts val="0"/>
              </a:spcAft>
              <a:buClr>
                <a:srgbClr val="384653"/>
              </a:buClr>
              <a:buSzPts val="1042"/>
              <a:buFont typeface="Montserrat"/>
              <a:buNone/>
            </a:pPr>
            <a:r>
              <a:rPr lang="en-US" sz="1042" b="0" i="0" u="none" strike="noStrike" cap="none">
                <a:solidFill>
                  <a:srgbClr val="384653"/>
                </a:solidFill>
                <a:latin typeface="Montserrat"/>
                <a:ea typeface="Montserrat"/>
                <a:cs typeface="Montserrat"/>
                <a:sym typeface="Montserrat"/>
              </a:rPr>
              <a:t>The S</a:t>
            </a:r>
            <a:r>
              <a:rPr lang="en-US" sz="1042">
                <a:solidFill>
                  <a:srgbClr val="384653"/>
                </a:solidFill>
                <a:latin typeface="Montserrat"/>
                <a:ea typeface="Montserrat"/>
                <a:cs typeface="Montserrat"/>
                <a:sym typeface="Montserrat"/>
              </a:rPr>
              <a:t>PRINT </a:t>
            </a:r>
            <a:r>
              <a:rPr lang="en-US" sz="1042" b="0" i="0" u="none" strike="noStrike" cap="none">
                <a:solidFill>
                  <a:srgbClr val="384653"/>
                </a:solidFill>
                <a:latin typeface="Montserrat"/>
                <a:ea typeface="Montserrat"/>
                <a:cs typeface="Montserrat"/>
                <a:sym typeface="Montserrat"/>
              </a:rPr>
              <a:t> integrates hardware and software components for remote, automated liquid dispensing. The Android mobile app sends commands to Firebase, which then updates the ESP-01 microcontroller. The ESP-01 interprets these commands to activate the relay module, controlling the solenoid valve and pressure pump.</a:t>
            </a:r>
            <a:endParaRPr sz="1042" b="0" i="0" u="none" strike="noStrike" cap="none">
              <a:solidFill>
                <a:schemeClr val="dk1"/>
              </a:solidFill>
              <a:latin typeface="Arial"/>
              <a:ea typeface="Arial"/>
              <a:cs typeface="Arial"/>
              <a:sym typeface="Arial"/>
            </a:endParaRPr>
          </a:p>
        </p:txBody>
      </p:sp>
      <p:sp>
        <p:nvSpPr>
          <p:cNvPr id="260" name="Google Shape;260;p30"/>
          <p:cNvSpPr/>
          <p:nvPr/>
        </p:nvSpPr>
        <p:spPr>
          <a:xfrm>
            <a:off x="470099" y="1876723"/>
            <a:ext cx="11251803" cy="429816"/>
          </a:xfrm>
          <a:prstGeom prst="rect">
            <a:avLst/>
          </a:prstGeom>
          <a:noFill/>
          <a:ln>
            <a:noFill/>
          </a:ln>
        </p:spPr>
        <p:txBody>
          <a:bodyPr spcFirstLastPara="1" wrap="square" lIns="0" tIns="0" rIns="0" bIns="0" anchor="t" anchorCtr="0">
            <a:noAutofit/>
          </a:bodyPr>
          <a:lstStyle/>
          <a:p>
            <a:pPr marL="0" marR="0" lvl="0" indent="0" algn="l" rtl="0">
              <a:lnSpc>
                <a:spcPct val="159980"/>
              </a:lnSpc>
              <a:spcBef>
                <a:spcPts val="0"/>
              </a:spcBef>
              <a:spcAft>
                <a:spcPts val="0"/>
              </a:spcAft>
              <a:buClr>
                <a:srgbClr val="384653"/>
              </a:buClr>
              <a:buSzPts val="1042"/>
              <a:buFont typeface="Montserrat"/>
              <a:buNone/>
            </a:pPr>
            <a:r>
              <a:rPr lang="en-US" sz="1042" b="0" i="0" u="none" strike="noStrike" cap="none">
                <a:solidFill>
                  <a:srgbClr val="384653"/>
                </a:solidFill>
                <a:latin typeface="Montserrat"/>
                <a:ea typeface="Montserrat"/>
                <a:cs typeface="Montserrat"/>
                <a:sym typeface="Montserrat"/>
              </a:rPr>
              <a:t>This setup ensures real-time control and eliminates the need for manual timers. The system is designed for adaptability, allowing future integration with environmental sensors and weather-based automation for enhanced precision agriculture.</a:t>
            </a:r>
            <a:endParaRPr sz="1042" b="0" i="0" u="none" strike="noStrike" cap="none">
              <a:solidFill>
                <a:schemeClr val="dk1"/>
              </a:solidFill>
              <a:latin typeface="Arial"/>
              <a:ea typeface="Arial"/>
              <a:cs typeface="Arial"/>
              <a:sym typeface="Arial"/>
            </a:endParaRPr>
          </a:p>
        </p:txBody>
      </p:sp>
      <p:pic>
        <p:nvPicPr>
          <p:cNvPr id="261" name="Google Shape;261;p30" descr="preencoded.png"/>
          <p:cNvPicPr preferRelativeResize="0"/>
          <p:nvPr/>
        </p:nvPicPr>
        <p:blipFill rotWithShape="1">
          <a:blip r:embed="rId3">
            <a:alphaModFix/>
          </a:blip>
          <a:srcRect/>
          <a:stretch/>
        </p:blipFill>
        <p:spPr>
          <a:xfrm>
            <a:off x="470098" y="2457649"/>
            <a:ext cx="671612" cy="805954"/>
          </a:xfrm>
          <a:prstGeom prst="rect">
            <a:avLst/>
          </a:prstGeom>
          <a:noFill/>
          <a:ln>
            <a:noFill/>
          </a:ln>
        </p:spPr>
      </p:pic>
      <p:sp>
        <p:nvSpPr>
          <p:cNvPr id="262" name="Google Shape;262;p30"/>
          <p:cNvSpPr/>
          <p:nvPr/>
        </p:nvSpPr>
        <p:spPr>
          <a:xfrm>
            <a:off x="1343124" y="2591892"/>
            <a:ext cx="1767483" cy="220861"/>
          </a:xfrm>
          <a:prstGeom prst="rect">
            <a:avLst/>
          </a:prstGeom>
          <a:noFill/>
          <a:ln>
            <a:noFill/>
          </a:ln>
        </p:spPr>
        <p:txBody>
          <a:bodyPr spcFirstLastPara="1" wrap="square" lIns="0" tIns="0" rIns="0" bIns="0" anchor="t" anchorCtr="0">
            <a:noAutofit/>
          </a:bodyPr>
          <a:lstStyle/>
          <a:p>
            <a:pPr marL="0" marR="0" lvl="0" indent="0" algn="l" rtl="0">
              <a:lnSpc>
                <a:spcPct val="124218"/>
              </a:lnSpc>
              <a:spcBef>
                <a:spcPts val="0"/>
              </a:spcBef>
              <a:spcAft>
                <a:spcPts val="0"/>
              </a:spcAft>
              <a:buClr>
                <a:srgbClr val="384653"/>
              </a:buClr>
              <a:buSzPts val="1375"/>
              <a:buFont typeface="Barlow"/>
              <a:buNone/>
            </a:pPr>
            <a:r>
              <a:rPr lang="en-US" sz="1375" b="1" i="0" u="none" strike="noStrike" cap="none">
                <a:solidFill>
                  <a:srgbClr val="384653"/>
                </a:solidFill>
                <a:latin typeface="Barlow"/>
                <a:ea typeface="Barlow"/>
                <a:cs typeface="Barlow"/>
                <a:sym typeface="Barlow"/>
              </a:rPr>
              <a:t>Mobile App</a:t>
            </a:r>
            <a:endParaRPr sz="1375" b="0" i="0" u="none" strike="noStrike" cap="none">
              <a:solidFill>
                <a:schemeClr val="dk1"/>
              </a:solidFill>
              <a:latin typeface="Arial"/>
              <a:ea typeface="Arial"/>
              <a:cs typeface="Arial"/>
              <a:sym typeface="Arial"/>
            </a:endParaRPr>
          </a:p>
        </p:txBody>
      </p:sp>
      <p:sp>
        <p:nvSpPr>
          <p:cNvPr id="263" name="Google Shape;263;p30"/>
          <p:cNvSpPr/>
          <p:nvPr/>
        </p:nvSpPr>
        <p:spPr>
          <a:xfrm>
            <a:off x="1343124" y="2893319"/>
            <a:ext cx="10378778" cy="214908"/>
          </a:xfrm>
          <a:prstGeom prst="rect">
            <a:avLst/>
          </a:prstGeom>
          <a:noFill/>
          <a:ln>
            <a:noFill/>
          </a:ln>
        </p:spPr>
        <p:txBody>
          <a:bodyPr spcFirstLastPara="1" wrap="square" lIns="0" tIns="0" rIns="0" bIns="0" anchor="t" anchorCtr="0">
            <a:noAutofit/>
          </a:bodyPr>
          <a:lstStyle/>
          <a:p>
            <a:pPr marL="0" marR="0" lvl="0" indent="0" algn="l" rtl="0">
              <a:lnSpc>
                <a:spcPct val="159980"/>
              </a:lnSpc>
              <a:spcBef>
                <a:spcPts val="0"/>
              </a:spcBef>
              <a:spcAft>
                <a:spcPts val="0"/>
              </a:spcAft>
              <a:buClr>
                <a:srgbClr val="384653"/>
              </a:buClr>
              <a:buSzPts val="1042"/>
              <a:buFont typeface="Montserrat"/>
              <a:buNone/>
            </a:pPr>
            <a:r>
              <a:rPr lang="en-US" sz="1042" b="0" i="0" u="none" strike="noStrike" cap="none">
                <a:solidFill>
                  <a:srgbClr val="384653"/>
                </a:solidFill>
                <a:latin typeface="Montserrat"/>
                <a:ea typeface="Montserrat"/>
                <a:cs typeface="Montserrat"/>
                <a:sym typeface="Montserrat"/>
              </a:rPr>
              <a:t>User initiates commands.</a:t>
            </a:r>
            <a:endParaRPr sz="1042" b="0" i="0" u="none" strike="noStrike" cap="none">
              <a:solidFill>
                <a:schemeClr val="dk1"/>
              </a:solidFill>
              <a:latin typeface="Arial"/>
              <a:ea typeface="Arial"/>
              <a:cs typeface="Arial"/>
              <a:sym typeface="Arial"/>
            </a:endParaRPr>
          </a:p>
        </p:txBody>
      </p:sp>
      <p:pic>
        <p:nvPicPr>
          <p:cNvPr id="264" name="Google Shape;264;p30" descr="preencoded.png"/>
          <p:cNvPicPr preferRelativeResize="0"/>
          <p:nvPr/>
        </p:nvPicPr>
        <p:blipFill rotWithShape="1">
          <a:blip r:embed="rId4">
            <a:alphaModFix/>
          </a:blip>
          <a:srcRect/>
          <a:stretch/>
        </p:blipFill>
        <p:spPr>
          <a:xfrm>
            <a:off x="470098" y="3263603"/>
            <a:ext cx="671612" cy="805954"/>
          </a:xfrm>
          <a:prstGeom prst="rect">
            <a:avLst/>
          </a:prstGeom>
          <a:noFill/>
          <a:ln>
            <a:noFill/>
          </a:ln>
        </p:spPr>
      </p:pic>
      <p:sp>
        <p:nvSpPr>
          <p:cNvPr id="265" name="Google Shape;265;p30"/>
          <p:cNvSpPr/>
          <p:nvPr/>
        </p:nvSpPr>
        <p:spPr>
          <a:xfrm>
            <a:off x="1343124" y="3397845"/>
            <a:ext cx="1767483" cy="220861"/>
          </a:xfrm>
          <a:prstGeom prst="rect">
            <a:avLst/>
          </a:prstGeom>
          <a:noFill/>
          <a:ln>
            <a:noFill/>
          </a:ln>
        </p:spPr>
        <p:txBody>
          <a:bodyPr spcFirstLastPara="1" wrap="square" lIns="0" tIns="0" rIns="0" bIns="0" anchor="t" anchorCtr="0">
            <a:noAutofit/>
          </a:bodyPr>
          <a:lstStyle/>
          <a:p>
            <a:pPr marL="0" marR="0" lvl="0" indent="0" algn="l" rtl="0">
              <a:lnSpc>
                <a:spcPct val="124218"/>
              </a:lnSpc>
              <a:spcBef>
                <a:spcPts val="0"/>
              </a:spcBef>
              <a:spcAft>
                <a:spcPts val="0"/>
              </a:spcAft>
              <a:buClr>
                <a:srgbClr val="384653"/>
              </a:buClr>
              <a:buSzPts val="1375"/>
              <a:buFont typeface="Barlow"/>
              <a:buNone/>
            </a:pPr>
            <a:r>
              <a:rPr lang="en-US" sz="1375" b="1" i="0" u="none" strike="noStrike" cap="none">
                <a:solidFill>
                  <a:srgbClr val="384653"/>
                </a:solidFill>
                <a:latin typeface="Barlow"/>
                <a:ea typeface="Barlow"/>
                <a:cs typeface="Barlow"/>
                <a:sym typeface="Barlow"/>
              </a:rPr>
              <a:t>Firebase</a:t>
            </a:r>
            <a:endParaRPr sz="1375" b="0" i="0" u="none" strike="noStrike" cap="none">
              <a:solidFill>
                <a:schemeClr val="dk1"/>
              </a:solidFill>
              <a:latin typeface="Arial"/>
              <a:ea typeface="Arial"/>
              <a:cs typeface="Arial"/>
              <a:sym typeface="Arial"/>
            </a:endParaRPr>
          </a:p>
        </p:txBody>
      </p:sp>
      <p:sp>
        <p:nvSpPr>
          <p:cNvPr id="266" name="Google Shape;266;p30"/>
          <p:cNvSpPr/>
          <p:nvPr/>
        </p:nvSpPr>
        <p:spPr>
          <a:xfrm>
            <a:off x="1343124" y="3699272"/>
            <a:ext cx="10378778" cy="214908"/>
          </a:xfrm>
          <a:prstGeom prst="rect">
            <a:avLst/>
          </a:prstGeom>
          <a:noFill/>
          <a:ln>
            <a:noFill/>
          </a:ln>
        </p:spPr>
        <p:txBody>
          <a:bodyPr spcFirstLastPara="1" wrap="square" lIns="0" tIns="0" rIns="0" bIns="0" anchor="t" anchorCtr="0">
            <a:noAutofit/>
          </a:bodyPr>
          <a:lstStyle/>
          <a:p>
            <a:pPr marL="0" marR="0" lvl="0" indent="0" algn="l" rtl="0">
              <a:lnSpc>
                <a:spcPct val="159980"/>
              </a:lnSpc>
              <a:spcBef>
                <a:spcPts val="0"/>
              </a:spcBef>
              <a:spcAft>
                <a:spcPts val="0"/>
              </a:spcAft>
              <a:buClr>
                <a:srgbClr val="384653"/>
              </a:buClr>
              <a:buSzPts val="1042"/>
              <a:buFont typeface="Montserrat"/>
              <a:buNone/>
            </a:pPr>
            <a:r>
              <a:rPr lang="en-US" sz="1042" b="0" i="0" u="none" strike="noStrike" cap="none">
                <a:solidFill>
                  <a:srgbClr val="384653"/>
                </a:solidFill>
                <a:latin typeface="Montserrat"/>
                <a:ea typeface="Montserrat"/>
                <a:cs typeface="Montserrat"/>
                <a:sym typeface="Montserrat"/>
              </a:rPr>
              <a:t>Receives and stores commands.</a:t>
            </a:r>
            <a:endParaRPr sz="1042" b="0" i="0" u="none" strike="noStrike" cap="none">
              <a:solidFill>
                <a:schemeClr val="dk1"/>
              </a:solidFill>
              <a:latin typeface="Arial"/>
              <a:ea typeface="Arial"/>
              <a:cs typeface="Arial"/>
              <a:sym typeface="Arial"/>
            </a:endParaRPr>
          </a:p>
        </p:txBody>
      </p:sp>
      <p:pic>
        <p:nvPicPr>
          <p:cNvPr id="267" name="Google Shape;267;p30" descr="preencoded.png"/>
          <p:cNvPicPr preferRelativeResize="0"/>
          <p:nvPr/>
        </p:nvPicPr>
        <p:blipFill rotWithShape="1">
          <a:blip r:embed="rId5">
            <a:alphaModFix/>
          </a:blip>
          <a:srcRect/>
          <a:stretch/>
        </p:blipFill>
        <p:spPr>
          <a:xfrm>
            <a:off x="470098" y="4069557"/>
            <a:ext cx="671612" cy="805954"/>
          </a:xfrm>
          <a:prstGeom prst="rect">
            <a:avLst/>
          </a:prstGeom>
          <a:noFill/>
          <a:ln>
            <a:noFill/>
          </a:ln>
        </p:spPr>
      </p:pic>
      <p:sp>
        <p:nvSpPr>
          <p:cNvPr id="268" name="Google Shape;268;p30"/>
          <p:cNvSpPr/>
          <p:nvPr/>
        </p:nvSpPr>
        <p:spPr>
          <a:xfrm>
            <a:off x="1343124" y="4203800"/>
            <a:ext cx="1767483" cy="220861"/>
          </a:xfrm>
          <a:prstGeom prst="rect">
            <a:avLst/>
          </a:prstGeom>
          <a:noFill/>
          <a:ln>
            <a:noFill/>
          </a:ln>
        </p:spPr>
        <p:txBody>
          <a:bodyPr spcFirstLastPara="1" wrap="square" lIns="0" tIns="0" rIns="0" bIns="0" anchor="t" anchorCtr="0">
            <a:noAutofit/>
          </a:bodyPr>
          <a:lstStyle/>
          <a:p>
            <a:pPr marL="0" marR="0" lvl="0" indent="0" algn="l" rtl="0">
              <a:lnSpc>
                <a:spcPct val="124218"/>
              </a:lnSpc>
              <a:spcBef>
                <a:spcPts val="0"/>
              </a:spcBef>
              <a:spcAft>
                <a:spcPts val="0"/>
              </a:spcAft>
              <a:buClr>
                <a:srgbClr val="384653"/>
              </a:buClr>
              <a:buSzPts val="1375"/>
              <a:buFont typeface="Barlow"/>
              <a:buNone/>
            </a:pPr>
            <a:r>
              <a:rPr lang="en-US" sz="1375" b="1" i="0" u="none" strike="noStrike" cap="none">
                <a:solidFill>
                  <a:srgbClr val="384653"/>
                </a:solidFill>
                <a:latin typeface="Barlow"/>
                <a:ea typeface="Barlow"/>
                <a:cs typeface="Barlow"/>
                <a:sym typeface="Barlow"/>
              </a:rPr>
              <a:t>ESP-01 (Wi-Fi)</a:t>
            </a:r>
            <a:endParaRPr sz="1375" b="0" i="0" u="none" strike="noStrike" cap="none">
              <a:solidFill>
                <a:schemeClr val="dk1"/>
              </a:solidFill>
              <a:latin typeface="Arial"/>
              <a:ea typeface="Arial"/>
              <a:cs typeface="Arial"/>
              <a:sym typeface="Arial"/>
            </a:endParaRPr>
          </a:p>
        </p:txBody>
      </p:sp>
      <p:sp>
        <p:nvSpPr>
          <p:cNvPr id="269" name="Google Shape;269;p30"/>
          <p:cNvSpPr/>
          <p:nvPr/>
        </p:nvSpPr>
        <p:spPr>
          <a:xfrm>
            <a:off x="1343124" y="4505226"/>
            <a:ext cx="10378778" cy="214908"/>
          </a:xfrm>
          <a:prstGeom prst="rect">
            <a:avLst/>
          </a:prstGeom>
          <a:noFill/>
          <a:ln>
            <a:noFill/>
          </a:ln>
        </p:spPr>
        <p:txBody>
          <a:bodyPr spcFirstLastPara="1" wrap="square" lIns="0" tIns="0" rIns="0" bIns="0" anchor="t" anchorCtr="0">
            <a:noAutofit/>
          </a:bodyPr>
          <a:lstStyle/>
          <a:p>
            <a:pPr marL="0" marR="0" lvl="0" indent="0" algn="l" rtl="0">
              <a:lnSpc>
                <a:spcPct val="159980"/>
              </a:lnSpc>
              <a:spcBef>
                <a:spcPts val="0"/>
              </a:spcBef>
              <a:spcAft>
                <a:spcPts val="0"/>
              </a:spcAft>
              <a:buClr>
                <a:srgbClr val="384653"/>
              </a:buClr>
              <a:buSzPts val="1042"/>
              <a:buFont typeface="Montserrat"/>
              <a:buNone/>
            </a:pPr>
            <a:r>
              <a:rPr lang="en-US" sz="1042" b="0" i="0" u="none" strike="noStrike" cap="none">
                <a:solidFill>
                  <a:srgbClr val="384653"/>
                </a:solidFill>
                <a:latin typeface="Montserrat"/>
                <a:ea typeface="Montserrat"/>
                <a:cs typeface="Montserrat"/>
                <a:sym typeface="Montserrat"/>
              </a:rPr>
              <a:t>Fetches commands from Firebase.</a:t>
            </a:r>
            <a:endParaRPr sz="1042" b="0" i="0" u="none" strike="noStrike" cap="none">
              <a:solidFill>
                <a:schemeClr val="dk1"/>
              </a:solidFill>
              <a:latin typeface="Arial"/>
              <a:ea typeface="Arial"/>
              <a:cs typeface="Arial"/>
              <a:sym typeface="Arial"/>
            </a:endParaRPr>
          </a:p>
        </p:txBody>
      </p:sp>
      <p:pic>
        <p:nvPicPr>
          <p:cNvPr id="270" name="Google Shape;270;p30" descr="preencoded.png"/>
          <p:cNvPicPr preferRelativeResize="0"/>
          <p:nvPr/>
        </p:nvPicPr>
        <p:blipFill rotWithShape="1">
          <a:blip r:embed="rId6">
            <a:alphaModFix/>
          </a:blip>
          <a:srcRect/>
          <a:stretch/>
        </p:blipFill>
        <p:spPr>
          <a:xfrm>
            <a:off x="470098" y="4875511"/>
            <a:ext cx="671612" cy="805954"/>
          </a:xfrm>
          <a:prstGeom prst="rect">
            <a:avLst/>
          </a:prstGeom>
          <a:noFill/>
          <a:ln>
            <a:noFill/>
          </a:ln>
        </p:spPr>
      </p:pic>
      <p:sp>
        <p:nvSpPr>
          <p:cNvPr id="271" name="Google Shape;271;p30"/>
          <p:cNvSpPr/>
          <p:nvPr/>
        </p:nvSpPr>
        <p:spPr>
          <a:xfrm>
            <a:off x="1343124" y="5009754"/>
            <a:ext cx="1767483" cy="220861"/>
          </a:xfrm>
          <a:prstGeom prst="rect">
            <a:avLst/>
          </a:prstGeom>
          <a:noFill/>
          <a:ln>
            <a:noFill/>
          </a:ln>
        </p:spPr>
        <p:txBody>
          <a:bodyPr spcFirstLastPara="1" wrap="square" lIns="0" tIns="0" rIns="0" bIns="0" anchor="t" anchorCtr="0">
            <a:noAutofit/>
          </a:bodyPr>
          <a:lstStyle/>
          <a:p>
            <a:pPr marL="0" marR="0" lvl="0" indent="0" algn="l" rtl="0">
              <a:lnSpc>
                <a:spcPct val="124218"/>
              </a:lnSpc>
              <a:spcBef>
                <a:spcPts val="0"/>
              </a:spcBef>
              <a:spcAft>
                <a:spcPts val="0"/>
              </a:spcAft>
              <a:buClr>
                <a:srgbClr val="384653"/>
              </a:buClr>
              <a:buSzPts val="1375"/>
              <a:buFont typeface="Barlow"/>
              <a:buNone/>
            </a:pPr>
            <a:r>
              <a:rPr lang="en-US" sz="1375" b="1" i="0" u="none" strike="noStrike" cap="none">
                <a:solidFill>
                  <a:srgbClr val="384653"/>
                </a:solidFill>
                <a:latin typeface="Barlow"/>
                <a:ea typeface="Barlow"/>
                <a:cs typeface="Barlow"/>
                <a:sym typeface="Barlow"/>
              </a:rPr>
              <a:t>Relay Module</a:t>
            </a:r>
            <a:endParaRPr sz="1375" b="0" i="0" u="none" strike="noStrike" cap="none">
              <a:solidFill>
                <a:schemeClr val="dk1"/>
              </a:solidFill>
              <a:latin typeface="Arial"/>
              <a:ea typeface="Arial"/>
              <a:cs typeface="Arial"/>
              <a:sym typeface="Arial"/>
            </a:endParaRPr>
          </a:p>
        </p:txBody>
      </p:sp>
      <p:sp>
        <p:nvSpPr>
          <p:cNvPr id="272" name="Google Shape;272;p30"/>
          <p:cNvSpPr/>
          <p:nvPr/>
        </p:nvSpPr>
        <p:spPr>
          <a:xfrm>
            <a:off x="1343124" y="5311180"/>
            <a:ext cx="10378778" cy="214908"/>
          </a:xfrm>
          <a:prstGeom prst="rect">
            <a:avLst/>
          </a:prstGeom>
          <a:noFill/>
          <a:ln>
            <a:noFill/>
          </a:ln>
        </p:spPr>
        <p:txBody>
          <a:bodyPr spcFirstLastPara="1" wrap="square" lIns="0" tIns="0" rIns="0" bIns="0" anchor="t" anchorCtr="0">
            <a:noAutofit/>
          </a:bodyPr>
          <a:lstStyle/>
          <a:p>
            <a:pPr marL="0" marR="0" lvl="0" indent="0" algn="l" rtl="0">
              <a:lnSpc>
                <a:spcPct val="159980"/>
              </a:lnSpc>
              <a:spcBef>
                <a:spcPts val="0"/>
              </a:spcBef>
              <a:spcAft>
                <a:spcPts val="0"/>
              </a:spcAft>
              <a:buClr>
                <a:srgbClr val="384653"/>
              </a:buClr>
              <a:buSzPts val="1042"/>
              <a:buFont typeface="Montserrat"/>
              <a:buNone/>
            </a:pPr>
            <a:r>
              <a:rPr lang="en-US" sz="1042" b="0" i="0" u="none" strike="noStrike" cap="none">
                <a:solidFill>
                  <a:srgbClr val="384653"/>
                </a:solidFill>
                <a:latin typeface="Montserrat"/>
                <a:ea typeface="Montserrat"/>
                <a:cs typeface="Montserrat"/>
                <a:sym typeface="Montserrat"/>
              </a:rPr>
              <a:t>Switches power to components.</a:t>
            </a:r>
            <a:endParaRPr sz="1042" b="0" i="0" u="none" strike="noStrike" cap="none">
              <a:solidFill>
                <a:schemeClr val="dk1"/>
              </a:solidFill>
              <a:latin typeface="Arial"/>
              <a:ea typeface="Arial"/>
              <a:cs typeface="Arial"/>
              <a:sym typeface="Arial"/>
            </a:endParaRPr>
          </a:p>
        </p:txBody>
      </p:sp>
      <p:pic>
        <p:nvPicPr>
          <p:cNvPr id="273" name="Google Shape;273;p30" descr="preencoded.png"/>
          <p:cNvPicPr preferRelativeResize="0"/>
          <p:nvPr/>
        </p:nvPicPr>
        <p:blipFill rotWithShape="1">
          <a:blip r:embed="rId7">
            <a:alphaModFix/>
          </a:blip>
          <a:srcRect/>
          <a:stretch/>
        </p:blipFill>
        <p:spPr>
          <a:xfrm>
            <a:off x="470098" y="5681465"/>
            <a:ext cx="671612" cy="805954"/>
          </a:xfrm>
          <a:prstGeom prst="rect">
            <a:avLst/>
          </a:prstGeom>
          <a:noFill/>
          <a:ln>
            <a:noFill/>
          </a:ln>
        </p:spPr>
      </p:pic>
      <p:sp>
        <p:nvSpPr>
          <p:cNvPr id="274" name="Google Shape;274;p30"/>
          <p:cNvSpPr/>
          <p:nvPr/>
        </p:nvSpPr>
        <p:spPr>
          <a:xfrm>
            <a:off x="1343124" y="5815707"/>
            <a:ext cx="2476302" cy="220861"/>
          </a:xfrm>
          <a:prstGeom prst="rect">
            <a:avLst/>
          </a:prstGeom>
          <a:noFill/>
          <a:ln>
            <a:noFill/>
          </a:ln>
        </p:spPr>
        <p:txBody>
          <a:bodyPr spcFirstLastPara="1" wrap="square" lIns="0" tIns="0" rIns="0" bIns="0" anchor="t" anchorCtr="0">
            <a:noAutofit/>
          </a:bodyPr>
          <a:lstStyle/>
          <a:p>
            <a:pPr marL="0" marR="0" lvl="0" indent="0" algn="l" rtl="0">
              <a:lnSpc>
                <a:spcPct val="124218"/>
              </a:lnSpc>
              <a:spcBef>
                <a:spcPts val="0"/>
              </a:spcBef>
              <a:spcAft>
                <a:spcPts val="0"/>
              </a:spcAft>
              <a:buClr>
                <a:srgbClr val="384653"/>
              </a:buClr>
              <a:buSzPts val="1375"/>
              <a:buFont typeface="Barlow"/>
              <a:buNone/>
            </a:pPr>
            <a:r>
              <a:rPr lang="en-US" sz="1375" b="1" i="0" u="none" strike="noStrike" cap="none">
                <a:solidFill>
                  <a:srgbClr val="384653"/>
                </a:solidFill>
                <a:latin typeface="Barlow"/>
                <a:ea typeface="Barlow"/>
                <a:cs typeface="Barlow"/>
                <a:sym typeface="Barlow"/>
              </a:rPr>
              <a:t>Solenoid Valve / Pressure Pump</a:t>
            </a:r>
            <a:endParaRPr sz="1375" b="0" i="0" u="none" strike="noStrike" cap="none">
              <a:solidFill>
                <a:schemeClr val="dk1"/>
              </a:solidFill>
              <a:latin typeface="Arial"/>
              <a:ea typeface="Arial"/>
              <a:cs typeface="Arial"/>
              <a:sym typeface="Arial"/>
            </a:endParaRPr>
          </a:p>
        </p:txBody>
      </p:sp>
      <p:sp>
        <p:nvSpPr>
          <p:cNvPr id="275" name="Google Shape;275;p30"/>
          <p:cNvSpPr/>
          <p:nvPr/>
        </p:nvSpPr>
        <p:spPr>
          <a:xfrm>
            <a:off x="1343124" y="6117134"/>
            <a:ext cx="10378778" cy="214908"/>
          </a:xfrm>
          <a:prstGeom prst="rect">
            <a:avLst/>
          </a:prstGeom>
          <a:noFill/>
          <a:ln>
            <a:noFill/>
          </a:ln>
        </p:spPr>
        <p:txBody>
          <a:bodyPr spcFirstLastPara="1" wrap="square" lIns="0" tIns="0" rIns="0" bIns="0" anchor="t" anchorCtr="0">
            <a:noAutofit/>
          </a:bodyPr>
          <a:lstStyle/>
          <a:p>
            <a:pPr marL="0" marR="0" lvl="0" indent="0" algn="l" rtl="0">
              <a:lnSpc>
                <a:spcPct val="159980"/>
              </a:lnSpc>
              <a:spcBef>
                <a:spcPts val="0"/>
              </a:spcBef>
              <a:spcAft>
                <a:spcPts val="0"/>
              </a:spcAft>
              <a:buClr>
                <a:srgbClr val="384653"/>
              </a:buClr>
              <a:buSzPts val="1042"/>
              <a:buFont typeface="Montserrat"/>
              <a:buNone/>
            </a:pPr>
            <a:r>
              <a:rPr lang="en-US" sz="1042" b="0" i="0" u="none" strike="noStrike" cap="none">
                <a:solidFill>
                  <a:srgbClr val="384653"/>
                </a:solidFill>
                <a:latin typeface="Montserrat"/>
                <a:ea typeface="Montserrat"/>
                <a:cs typeface="Montserrat"/>
                <a:sym typeface="Montserrat"/>
              </a:rPr>
              <a:t>Dispenses liquid to target area.</a:t>
            </a:r>
            <a:endParaRPr sz="1042" b="0" i="0" u="none" strike="noStrike" cap="none">
              <a:solidFill>
                <a:schemeClr val="dk1"/>
              </a:solidFill>
              <a:latin typeface="Arial"/>
              <a:ea typeface="Arial"/>
              <a:cs typeface="Arial"/>
              <a:sym typeface="Arial"/>
            </a:endParaRPr>
          </a:p>
        </p:txBody>
      </p:sp>
      <p:pic>
        <p:nvPicPr>
          <p:cNvPr id="276" name="Google Shape;276;p30" descr="A diagram of a power supply system&#10;&#10;AI-generated content may be incorrect."/>
          <p:cNvPicPr preferRelativeResize="0"/>
          <p:nvPr/>
        </p:nvPicPr>
        <p:blipFill rotWithShape="1">
          <a:blip r:embed="rId8">
            <a:alphaModFix/>
          </a:blip>
          <a:srcRect/>
          <a:stretch/>
        </p:blipFill>
        <p:spPr>
          <a:xfrm>
            <a:off x="5283993" y="2590800"/>
            <a:ext cx="6017419" cy="3212306"/>
          </a:xfrm>
          <a:prstGeom prst="rect">
            <a:avLst/>
          </a:prstGeom>
          <a:noFill/>
          <a:ln>
            <a:noFill/>
          </a:ln>
        </p:spPr>
      </p:pic>
      <p:pic>
        <p:nvPicPr>
          <p:cNvPr id="277" name="Google Shape;277;p30" descr="A white background with black dots&#10;&#10;AI-generated content may be incorrect."/>
          <p:cNvPicPr preferRelativeResize="0"/>
          <p:nvPr/>
        </p:nvPicPr>
        <p:blipFill rotWithShape="1">
          <a:blip r:embed="rId9">
            <a:alphaModFix/>
          </a:blip>
          <a:srcRect/>
          <a:stretch/>
        </p:blipFill>
        <p:spPr>
          <a:xfrm>
            <a:off x="9886950" y="6283699"/>
            <a:ext cx="2301689" cy="57710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31" descr="preencoded.png"/>
          <p:cNvPicPr preferRelativeResize="0"/>
          <p:nvPr/>
        </p:nvPicPr>
        <p:blipFill rotWithShape="1">
          <a:blip r:embed="rId3">
            <a:alphaModFix/>
          </a:blip>
          <a:srcRect/>
          <a:stretch/>
        </p:blipFill>
        <p:spPr>
          <a:xfrm>
            <a:off x="7391400" y="0"/>
            <a:ext cx="4800600" cy="6858000"/>
          </a:xfrm>
          <a:prstGeom prst="rect">
            <a:avLst/>
          </a:prstGeom>
          <a:noFill/>
          <a:ln>
            <a:noFill/>
          </a:ln>
        </p:spPr>
      </p:pic>
      <p:sp>
        <p:nvSpPr>
          <p:cNvPr id="284" name="Google Shape;284;p31"/>
          <p:cNvSpPr/>
          <p:nvPr/>
        </p:nvSpPr>
        <p:spPr>
          <a:xfrm>
            <a:off x="575866" y="712986"/>
            <a:ext cx="4330303" cy="541238"/>
          </a:xfrm>
          <a:prstGeom prst="rect">
            <a:avLst/>
          </a:prstGeom>
          <a:noFill/>
          <a:ln>
            <a:noFill/>
          </a:ln>
        </p:spPr>
        <p:txBody>
          <a:bodyPr spcFirstLastPara="1" wrap="square" lIns="0" tIns="0" rIns="0" bIns="0" anchor="t" anchorCtr="0">
            <a:noAutofit/>
          </a:bodyPr>
          <a:lstStyle/>
          <a:p>
            <a:pPr marL="0" marR="0" lvl="0" indent="0" algn="l" rtl="0">
              <a:lnSpc>
                <a:spcPct val="125925"/>
              </a:lnSpc>
              <a:spcBef>
                <a:spcPts val="0"/>
              </a:spcBef>
              <a:spcAft>
                <a:spcPts val="0"/>
              </a:spcAft>
              <a:buClr>
                <a:srgbClr val="2E3C4E"/>
              </a:buClr>
              <a:buSzPts val="3375"/>
              <a:buFont typeface="Barlow"/>
              <a:buNone/>
            </a:pPr>
            <a:r>
              <a:rPr lang="en-US" sz="3375" b="1" i="0" u="none" strike="noStrike" cap="none">
                <a:solidFill>
                  <a:srgbClr val="2E3C4E"/>
                </a:solidFill>
                <a:latin typeface="Barlow"/>
                <a:ea typeface="Barlow"/>
                <a:cs typeface="Barlow"/>
                <a:sym typeface="Barlow"/>
              </a:rPr>
              <a:t>Key Components Used</a:t>
            </a:r>
            <a:endParaRPr sz="3375" b="0" i="0" u="none" strike="noStrike" cap="none">
              <a:solidFill>
                <a:schemeClr val="dk1"/>
              </a:solidFill>
              <a:latin typeface="Arial"/>
              <a:ea typeface="Arial"/>
              <a:cs typeface="Arial"/>
              <a:sym typeface="Arial"/>
            </a:endParaRPr>
          </a:p>
        </p:txBody>
      </p:sp>
      <p:sp>
        <p:nvSpPr>
          <p:cNvPr id="285" name="Google Shape;285;p31"/>
          <p:cNvSpPr/>
          <p:nvPr/>
        </p:nvSpPr>
        <p:spPr>
          <a:xfrm>
            <a:off x="575866" y="1500981"/>
            <a:ext cx="6468269" cy="1052513"/>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The S</a:t>
            </a:r>
            <a:r>
              <a:rPr lang="en-US" sz="1292">
                <a:solidFill>
                  <a:srgbClr val="384653"/>
                </a:solidFill>
                <a:latin typeface="Montserrat"/>
                <a:ea typeface="Montserrat"/>
                <a:cs typeface="Montserrat"/>
                <a:sym typeface="Montserrat"/>
              </a:rPr>
              <a:t>PRINT</a:t>
            </a:r>
            <a:r>
              <a:rPr lang="en-US" sz="1292" b="0" i="0" u="none" strike="noStrike" cap="none">
                <a:solidFill>
                  <a:srgbClr val="384653"/>
                </a:solidFill>
                <a:latin typeface="Montserrat"/>
                <a:ea typeface="Montserrat"/>
                <a:cs typeface="Montserrat"/>
                <a:sym typeface="Montserrat"/>
              </a:rPr>
              <a:t> relies on a selection of key hardware components to achieve its automated functionality. The ESP-01 microcontroller serves as the core control unit, processing commands and managing operations. A relay module is crucial for safely switching power to higher voltage devices.</a:t>
            </a:r>
            <a:endParaRPr sz="1292" b="0" i="0" u="none" strike="noStrike" cap="none">
              <a:solidFill>
                <a:schemeClr val="dk1"/>
              </a:solidFill>
              <a:latin typeface="Arial"/>
              <a:ea typeface="Arial"/>
              <a:cs typeface="Arial"/>
              <a:sym typeface="Arial"/>
            </a:endParaRPr>
          </a:p>
        </p:txBody>
      </p:sp>
      <p:sp>
        <p:nvSpPr>
          <p:cNvPr id="286" name="Google Shape;286;p31"/>
          <p:cNvSpPr/>
          <p:nvPr/>
        </p:nvSpPr>
        <p:spPr>
          <a:xfrm>
            <a:off x="575866" y="2738537"/>
            <a:ext cx="6468269" cy="1052513"/>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The system incorporates a 12V DC pressure pump for effective water pressurisation and a solenoid valve for precise liquid flow control. These components are chosen for their reliability, cost-effectiveness, and suitability for agricultural applications.</a:t>
            </a:r>
            <a:endParaRPr sz="1292" b="0" i="0" u="none" strike="noStrike" cap="none">
              <a:solidFill>
                <a:schemeClr val="dk1"/>
              </a:solidFill>
              <a:latin typeface="Arial"/>
              <a:ea typeface="Arial"/>
              <a:cs typeface="Arial"/>
              <a:sym typeface="Arial"/>
            </a:endParaRPr>
          </a:p>
        </p:txBody>
      </p:sp>
      <p:sp>
        <p:nvSpPr>
          <p:cNvPr id="287" name="Google Shape;287;p31"/>
          <p:cNvSpPr/>
          <p:nvPr/>
        </p:nvSpPr>
        <p:spPr>
          <a:xfrm>
            <a:off x="575866" y="3976092"/>
            <a:ext cx="6468269" cy="2168922"/>
          </a:xfrm>
          <a:prstGeom prst="roundRect">
            <a:avLst>
              <a:gd name="adj" fmla="val 11380"/>
            </a:avLst>
          </a:prstGeom>
          <a:noFill/>
          <a:ln w="9525" cap="flat" cmpd="sng">
            <a:solidFill>
              <a:srgbClr val="000000">
                <a:alpha val="745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31"/>
          <p:cNvSpPr/>
          <p:nvPr/>
        </p:nvSpPr>
        <p:spPr>
          <a:xfrm>
            <a:off x="582216" y="3982443"/>
            <a:ext cx="6454874" cy="473273"/>
          </a:xfrm>
          <a:prstGeom prst="rect">
            <a:avLst/>
          </a:prstGeom>
          <a:solidFill>
            <a:srgbClr val="FFFFFF">
              <a:alpha val="352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31"/>
          <p:cNvSpPr/>
          <p:nvPr/>
        </p:nvSpPr>
        <p:spPr>
          <a:xfrm>
            <a:off x="747515" y="4087515"/>
            <a:ext cx="1819176" cy="263128"/>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ESP-01</a:t>
            </a:r>
            <a:endParaRPr sz="1292" b="0" i="0" u="none" strike="noStrike" cap="none">
              <a:solidFill>
                <a:schemeClr val="dk1"/>
              </a:solidFill>
              <a:latin typeface="Arial"/>
              <a:ea typeface="Arial"/>
              <a:cs typeface="Arial"/>
              <a:sym typeface="Arial"/>
            </a:endParaRPr>
          </a:p>
        </p:txBody>
      </p:sp>
      <p:sp>
        <p:nvSpPr>
          <p:cNvPr id="290" name="Google Shape;290;p31"/>
          <p:cNvSpPr/>
          <p:nvPr/>
        </p:nvSpPr>
        <p:spPr>
          <a:xfrm>
            <a:off x="2902050" y="4087515"/>
            <a:ext cx="1816001" cy="263128"/>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WiFi MCU</a:t>
            </a:r>
            <a:endParaRPr sz="1292" b="0" i="0" u="none" strike="noStrike" cap="none">
              <a:solidFill>
                <a:schemeClr val="dk1"/>
              </a:solidFill>
              <a:latin typeface="Arial"/>
              <a:ea typeface="Arial"/>
              <a:cs typeface="Arial"/>
              <a:sym typeface="Arial"/>
            </a:endParaRPr>
          </a:p>
        </p:txBody>
      </p:sp>
      <p:sp>
        <p:nvSpPr>
          <p:cNvPr id="291" name="Google Shape;291;p31"/>
          <p:cNvSpPr/>
          <p:nvPr/>
        </p:nvSpPr>
        <p:spPr>
          <a:xfrm>
            <a:off x="5053410" y="4087515"/>
            <a:ext cx="1819176" cy="263128"/>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Core control unit</a:t>
            </a:r>
            <a:endParaRPr sz="1292" b="0" i="0" u="none" strike="noStrike" cap="none">
              <a:solidFill>
                <a:schemeClr val="dk1"/>
              </a:solidFill>
              <a:latin typeface="Arial"/>
              <a:ea typeface="Arial"/>
              <a:cs typeface="Arial"/>
              <a:sym typeface="Arial"/>
            </a:endParaRPr>
          </a:p>
        </p:txBody>
      </p:sp>
      <p:sp>
        <p:nvSpPr>
          <p:cNvPr id="292" name="Google Shape;292;p31"/>
          <p:cNvSpPr/>
          <p:nvPr/>
        </p:nvSpPr>
        <p:spPr>
          <a:xfrm>
            <a:off x="582216" y="4455716"/>
            <a:ext cx="6454874" cy="736402"/>
          </a:xfrm>
          <a:prstGeom prst="rect">
            <a:avLst/>
          </a:prstGeom>
          <a:solidFill>
            <a:srgbClr val="000000">
              <a:alpha val="352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31"/>
          <p:cNvSpPr/>
          <p:nvPr/>
        </p:nvSpPr>
        <p:spPr>
          <a:xfrm>
            <a:off x="747515" y="4560789"/>
            <a:ext cx="1819176" cy="263128"/>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Relay</a:t>
            </a:r>
            <a:endParaRPr sz="1292" b="0" i="0" u="none" strike="noStrike" cap="none">
              <a:solidFill>
                <a:schemeClr val="dk1"/>
              </a:solidFill>
              <a:latin typeface="Arial"/>
              <a:ea typeface="Arial"/>
              <a:cs typeface="Arial"/>
              <a:sym typeface="Arial"/>
            </a:endParaRPr>
          </a:p>
        </p:txBody>
      </p:sp>
      <p:sp>
        <p:nvSpPr>
          <p:cNvPr id="294" name="Google Shape;294;p31"/>
          <p:cNvSpPr/>
          <p:nvPr/>
        </p:nvSpPr>
        <p:spPr>
          <a:xfrm>
            <a:off x="2902050" y="4560789"/>
            <a:ext cx="1816001" cy="263128"/>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Switch</a:t>
            </a:r>
            <a:endParaRPr sz="1292" b="0" i="0" u="none" strike="noStrike" cap="none">
              <a:solidFill>
                <a:schemeClr val="dk1"/>
              </a:solidFill>
              <a:latin typeface="Arial"/>
              <a:ea typeface="Arial"/>
              <a:cs typeface="Arial"/>
              <a:sym typeface="Arial"/>
            </a:endParaRPr>
          </a:p>
        </p:txBody>
      </p:sp>
      <p:sp>
        <p:nvSpPr>
          <p:cNvPr id="295" name="Google Shape;295;p31"/>
          <p:cNvSpPr/>
          <p:nvPr/>
        </p:nvSpPr>
        <p:spPr>
          <a:xfrm>
            <a:off x="5053410" y="4560789"/>
            <a:ext cx="1819176" cy="526256"/>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Controls power to pump/valve</a:t>
            </a:r>
            <a:endParaRPr sz="1292" b="0" i="0" u="none" strike="noStrike" cap="none">
              <a:solidFill>
                <a:schemeClr val="dk1"/>
              </a:solidFill>
              <a:latin typeface="Arial"/>
              <a:ea typeface="Arial"/>
              <a:cs typeface="Arial"/>
              <a:sym typeface="Arial"/>
            </a:endParaRPr>
          </a:p>
        </p:txBody>
      </p:sp>
      <p:sp>
        <p:nvSpPr>
          <p:cNvPr id="296" name="Google Shape;296;p31"/>
          <p:cNvSpPr/>
          <p:nvPr/>
        </p:nvSpPr>
        <p:spPr>
          <a:xfrm>
            <a:off x="582216" y="5192118"/>
            <a:ext cx="6454874" cy="473273"/>
          </a:xfrm>
          <a:prstGeom prst="rect">
            <a:avLst/>
          </a:prstGeom>
          <a:solidFill>
            <a:srgbClr val="FFFFFF">
              <a:alpha val="352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31"/>
          <p:cNvSpPr/>
          <p:nvPr/>
        </p:nvSpPr>
        <p:spPr>
          <a:xfrm>
            <a:off x="747515" y="5297190"/>
            <a:ext cx="1819176" cy="263128"/>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Pump</a:t>
            </a:r>
            <a:endParaRPr sz="1292" b="0" i="0" u="none" strike="noStrike" cap="none">
              <a:solidFill>
                <a:schemeClr val="dk1"/>
              </a:solidFill>
              <a:latin typeface="Arial"/>
              <a:ea typeface="Arial"/>
              <a:cs typeface="Arial"/>
              <a:sym typeface="Arial"/>
            </a:endParaRPr>
          </a:p>
        </p:txBody>
      </p:sp>
      <p:sp>
        <p:nvSpPr>
          <p:cNvPr id="298" name="Google Shape;298;p31"/>
          <p:cNvSpPr/>
          <p:nvPr/>
        </p:nvSpPr>
        <p:spPr>
          <a:xfrm>
            <a:off x="2902050" y="5297190"/>
            <a:ext cx="1816001" cy="263128"/>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12V DC</a:t>
            </a:r>
            <a:endParaRPr sz="1292" b="0" i="0" u="none" strike="noStrike" cap="none">
              <a:solidFill>
                <a:schemeClr val="dk1"/>
              </a:solidFill>
              <a:latin typeface="Arial"/>
              <a:ea typeface="Arial"/>
              <a:cs typeface="Arial"/>
              <a:sym typeface="Arial"/>
            </a:endParaRPr>
          </a:p>
        </p:txBody>
      </p:sp>
      <p:sp>
        <p:nvSpPr>
          <p:cNvPr id="299" name="Google Shape;299;p31"/>
          <p:cNvSpPr/>
          <p:nvPr/>
        </p:nvSpPr>
        <p:spPr>
          <a:xfrm>
            <a:off x="5053410" y="5297190"/>
            <a:ext cx="1819176" cy="263128"/>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Water pressurisation</a:t>
            </a:r>
            <a:endParaRPr sz="1292" b="0" i="0" u="none" strike="noStrike" cap="none">
              <a:solidFill>
                <a:schemeClr val="dk1"/>
              </a:solidFill>
              <a:latin typeface="Arial"/>
              <a:ea typeface="Arial"/>
              <a:cs typeface="Arial"/>
              <a:sym typeface="Arial"/>
            </a:endParaRPr>
          </a:p>
        </p:txBody>
      </p:sp>
      <p:sp>
        <p:nvSpPr>
          <p:cNvPr id="300" name="Google Shape;300;p31"/>
          <p:cNvSpPr/>
          <p:nvPr/>
        </p:nvSpPr>
        <p:spPr>
          <a:xfrm>
            <a:off x="582216" y="5665391"/>
            <a:ext cx="6454874" cy="473273"/>
          </a:xfrm>
          <a:prstGeom prst="rect">
            <a:avLst/>
          </a:prstGeom>
          <a:solidFill>
            <a:srgbClr val="000000">
              <a:alpha val="352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31"/>
          <p:cNvSpPr/>
          <p:nvPr/>
        </p:nvSpPr>
        <p:spPr>
          <a:xfrm>
            <a:off x="747515" y="5770464"/>
            <a:ext cx="1819176" cy="263128"/>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Valve</a:t>
            </a:r>
            <a:endParaRPr sz="1292" b="0" i="0" u="none" strike="noStrike" cap="none">
              <a:solidFill>
                <a:schemeClr val="dk1"/>
              </a:solidFill>
              <a:latin typeface="Arial"/>
              <a:ea typeface="Arial"/>
              <a:cs typeface="Arial"/>
              <a:sym typeface="Arial"/>
            </a:endParaRPr>
          </a:p>
        </p:txBody>
      </p:sp>
      <p:sp>
        <p:nvSpPr>
          <p:cNvPr id="302" name="Google Shape;302;p31"/>
          <p:cNvSpPr/>
          <p:nvPr/>
        </p:nvSpPr>
        <p:spPr>
          <a:xfrm>
            <a:off x="2902050" y="5770464"/>
            <a:ext cx="1816001" cy="263128"/>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Solenoid</a:t>
            </a:r>
            <a:endParaRPr sz="1292" b="0" i="0" u="none" strike="noStrike" cap="none">
              <a:solidFill>
                <a:schemeClr val="dk1"/>
              </a:solidFill>
              <a:latin typeface="Arial"/>
              <a:ea typeface="Arial"/>
              <a:cs typeface="Arial"/>
              <a:sym typeface="Arial"/>
            </a:endParaRPr>
          </a:p>
        </p:txBody>
      </p:sp>
      <p:sp>
        <p:nvSpPr>
          <p:cNvPr id="303" name="Google Shape;303;p31"/>
          <p:cNvSpPr/>
          <p:nvPr/>
        </p:nvSpPr>
        <p:spPr>
          <a:xfrm>
            <a:off x="5053410" y="5770464"/>
            <a:ext cx="1819176" cy="263128"/>
          </a:xfrm>
          <a:prstGeom prst="rect">
            <a:avLst/>
          </a:prstGeom>
          <a:noFill/>
          <a:ln>
            <a:noFill/>
          </a:ln>
        </p:spPr>
        <p:txBody>
          <a:bodyPr spcFirstLastPara="1" wrap="square" lIns="0" tIns="0" rIns="0" bIns="0" anchor="t" anchorCtr="0">
            <a:noAutofit/>
          </a:bodyPr>
          <a:lstStyle/>
          <a:p>
            <a:pPr marL="0" marR="0" lvl="0" indent="0" algn="l" rtl="0">
              <a:lnSpc>
                <a:spcPct val="158049"/>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Liquid control</a:t>
            </a:r>
            <a:endParaRPr sz="1292" b="0" i="0" u="none" strike="noStrike" cap="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2"/>
          <p:cNvSpPr/>
          <p:nvPr/>
        </p:nvSpPr>
        <p:spPr>
          <a:xfrm>
            <a:off x="631924" y="1043682"/>
            <a:ext cx="4751288" cy="593923"/>
          </a:xfrm>
          <a:prstGeom prst="rect">
            <a:avLst/>
          </a:prstGeom>
          <a:noFill/>
          <a:ln>
            <a:noFill/>
          </a:ln>
        </p:spPr>
        <p:txBody>
          <a:bodyPr spcFirstLastPara="1" wrap="square" lIns="0" tIns="0" rIns="0" bIns="0" anchor="t" anchorCtr="0">
            <a:noAutofit/>
          </a:bodyPr>
          <a:lstStyle/>
          <a:p>
            <a:pPr marL="0" marR="0" lvl="0" indent="0" algn="l" rtl="0">
              <a:lnSpc>
                <a:spcPct val="125836"/>
              </a:lnSpc>
              <a:spcBef>
                <a:spcPts val="0"/>
              </a:spcBef>
              <a:spcAft>
                <a:spcPts val="0"/>
              </a:spcAft>
              <a:buClr>
                <a:srgbClr val="2E3C4E"/>
              </a:buClr>
              <a:buSzPts val="3708"/>
              <a:buFont typeface="Barlow"/>
              <a:buNone/>
            </a:pPr>
            <a:r>
              <a:rPr lang="en-US" sz="3708" b="1" i="0" u="none" strike="noStrike" cap="none">
                <a:solidFill>
                  <a:srgbClr val="2E3C4E"/>
                </a:solidFill>
                <a:latin typeface="Barlow"/>
                <a:ea typeface="Barlow"/>
                <a:cs typeface="Barlow"/>
                <a:sym typeface="Barlow"/>
              </a:rPr>
              <a:t>Power Management</a:t>
            </a:r>
            <a:endParaRPr sz="3708" b="0" i="0" u="none" strike="noStrike" cap="none">
              <a:solidFill>
                <a:schemeClr val="dk1"/>
              </a:solidFill>
              <a:latin typeface="Arial"/>
              <a:ea typeface="Arial"/>
              <a:cs typeface="Arial"/>
              <a:sym typeface="Arial"/>
            </a:endParaRPr>
          </a:p>
        </p:txBody>
      </p:sp>
      <p:sp>
        <p:nvSpPr>
          <p:cNvPr id="310" name="Google Shape;310;p32"/>
          <p:cNvSpPr/>
          <p:nvPr/>
        </p:nvSpPr>
        <p:spPr>
          <a:xfrm>
            <a:off x="631924" y="1998663"/>
            <a:ext cx="10928152" cy="8667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Effective power management is critical for the S</a:t>
            </a:r>
            <a:r>
              <a:rPr lang="en-US" sz="1417">
                <a:solidFill>
                  <a:srgbClr val="384653"/>
                </a:solidFill>
                <a:latin typeface="Montserrat"/>
                <a:ea typeface="Montserrat"/>
                <a:cs typeface="Montserrat"/>
                <a:sym typeface="Montserrat"/>
              </a:rPr>
              <a:t>PRINT</a:t>
            </a:r>
            <a:r>
              <a:rPr lang="en-US" sz="1417" b="0" i="0" u="none" strike="noStrike" cap="none">
                <a:solidFill>
                  <a:srgbClr val="384653"/>
                </a:solidFill>
                <a:latin typeface="Montserrat"/>
                <a:ea typeface="Montserrat"/>
                <a:cs typeface="Montserrat"/>
                <a:sym typeface="Montserrat"/>
              </a:rPr>
              <a:t> reliability. A 12V DC adapter serves as the main power source. To ensure stable operation for all components, voltage regulation is implemented using both buck and boost converters.</a:t>
            </a:r>
            <a:endParaRPr sz="1417" b="0" i="0" u="none" strike="noStrike" cap="none">
              <a:solidFill>
                <a:schemeClr val="dk1"/>
              </a:solidFill>
              <a:latin typeface="Arial"/>
              <a:ea typeface="Arial"/>
              <a:cs typeface="Arial"/>
              <a:sym typeface="Arial"/>
            </a:endParaRPr>
          </a:p>
        </p:txBody>
      </p:sp>
      <p:sp>
        <p:nvSpPr>
          <p:cNvPr id="311" name="Google Shape;311;p32"/>
          <p:cNvSpPr/>
          <p:nvPr/>
        </p:nvSpPr>
        <p:spPr>
          <a:xfrm>
            <a:off x="631924" y="3068538"/>
            <a:ext cx="10928152" cy="1155700"/>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An LM2596 buck converter steps down the 12V input to 3.3V for the ESP-01 microcontroller, protecting it from overvoltage. An MT3608 boost converter steps up the voltage to 24V for the solenoid valve, ensuring optimal performance. Separate power lines are maintained for the pump and ESP to prevent interference and ensure consistent power delivery.</a:t>
            </a:r>
            <a:endParaRPr sz="1417" b="0" i="0" u="none" strike="noStrike" cap="none">
              <a:solidFill>
                <a:schemeClr val="dk1"/>
              </a:solidFill>
              <a:latin typeface="Arial"/>
              <a:ea typeface="Arial"/>
              <a:cs typeface="Arial"/>
              <a:sym typeface="Arial"/>
            </a:endParaRPr>
          </a:p>
        </p:txBody>
      </p:sp>
      <p:pic>
        <p:nvPicPr>
          <p:cNvPr id="312" name="Google Shape;312;p32" descr="preencoded.png"/>
          <p:cNvPicPr preferRelativeResize="0"/>
          <p:nvPr/>
        </p:nvPicPr>
        <p:blipFill rotWithShape="1">
          <a:blip r:embed="rId3">
            <a:alphaModFix/>
          </a:blip>
          <a:srcRect/>
          <a:stretch/>
        </p:blipFill>
        <p:spPr>
          <a:xfrm>
            <a:off x="631925" y="4458891"/>
            <a:ext cx="451346" cy="451346"/>
          </a:xfrm>
          <a:prstGeom prst="rect">
            <a:avLst/>
          </a:prstGeom>
          <a:noFill/>
          <a:ln>
            <a:noFill/>
          </a:ln>
        </p:spPr>
      </p:pic>
      <p:sp>
        <p:nvSpPr>
          <p:cNvPr id="313" name="Google Shape;313;p32"/>
          <p:cNvSpPr/>
          <p:nvPr/>
        </p:nvSpPr>
        <p:spPr>
          <a:xfrm>
            <a:off x="1263749" y="4534495"/>
            <a:ext cx="1930995"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12V DC Adapter</a:t>
            </a:r>
            <a:endParaRPr sz="1833" b="0" i="0" u="none" strike="noStrike" cap="none">
              <a:solidFill>
                <a:schemeClr val="dk1"/>
              </a:solidFill>
              <a:latin typeface="Arial"/>
              <a:ea typeface="Arial"/>
              <a:cs typeface="Arial"/>
              <a:sym typeface="Arial"/>
            </a:endParaRPr>
          </a:p>
        </p:txBody>
      </p:sp>
      <p:sp>
        <p:nvSpPr>
          <p:cNvPr id="314" name="Google Shape;314;p32"/>
          <p:cNvSpPr/>
          <p:nvPr/>
        </p:nvSpPr>
        <p:spPr>
          <a:xfrm>
            <a:off x="1263749" y="4939606"/>
            <a:ext cx="1930995" cy="28892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Main power source.</a:t>
            </a:r>
            <a:endParaRPr sz="1417" b="0" i="0" u="none" strike="noStrike" cap="none">
              <a:solidFill>
                <a:schemeClr val="dk1"/>
              </a:solidFill>
              <a:latin typeface="Arial"/>
              <a:ea typeface="Arial"/>
              <a:cs typeface="Arial"/>
              <a:sym typeface="Arial"/>
            </a:endParaRPr>
          </a:p>
        </p:txBody>
      </p:sp>
      <p:pic>
        <p:nvPicPr>
          <p:cNvPr id="315" name="Google Shape;315;p32" descr="preencoded.png"/>
          <p:cNvPicPr preferRelativeResize="0"/>
          <p:nvPr/>
        </p:nvPicPr>
        <p:blipFill rotWithShape="1">
          <a:blip r:embed="rId4">
            <a:alphaModFix/>
          </a:blip>
          <a:srcRect/>
          <a:stretch/>
        </p:blipFill>
        <p:spPr>
          <a:xfrm>
            <a:off x="3420369" y="4458891"/>
            <a:ext cx="451346" cy="451346"/>
          </a:xfrm>
          <a:prstGeom prst="rect">
            <a:avLst/>
          </a:prstGeom>
          <a:noFill/>
          <a:ln>
            <a:noFill/>
          </a:ln>
        </p:spPr>
      </p:pic>
      <p:sp>
        <p:nvSpPr>
          <p:cNvPr id="316" name="Google Shape;316;p32"/>
          <p:cNvSpPr/>
          <p:nvPr/>
        </p:nvSpPr>
        <p:spPr>
          <a:xfrm>
            <a:off x="4052193" y="4534495"/>
            <a:ext cx="1930995" cy="593725"/>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LM2596 Buck Converter</a:t>
            </a:r>
            <a:endParaRPr sz="1833" b="0" i="0" u="none" strike="noStrike" cap="none">
              <a:solidFill>
                <a:schemeClr val="dk1"/>
              </a:solidFill>
              <a:latin typeface="Arial"/>
              <a:ea typeface="Arial"/>
              <a:cs typeface="Arial"/>
              <a:sym typeface="Arial"/>
            </a:endParaRPr>
          </a:p>
        </p:txBody>
      </p:sp>
      <p:sp>
        <p:nvSpPr>
          <p:cNvPr id="317" name="Google Shape;317;p32"/>
          <p:cNvSpPr/>
          <p:nvPr/>
        </p:nvSpPr>
        <p:spPr>
          <a:xfrm>
            <a:off x="4052193" y="5236468"/>
            <a:ext cx="1930995" cy="577850"/>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Regulates 12V to 3.3V for ESP-01.</a:t>
            </a:r>
            <a:endParaRPr sz="1417" b="0" i="0" u="none" strike="noStrike" cap="none">
              <a:solidFill>
                <a:schemeClr val="dk1"/>
              </a:solidFill>
              <a:latin typeface="Arial"/>
              <a:ea typeface="Arial"/>
              <a:cs typeface="Arial"/>
              <a:sym typeface="Arial"/>
            </a:endParaRPr>
          </a:p>
        </p:txBody>
      </p:sp>
      <p:pic>
        <p:nvPicPr>
          <p:cNvPr id="318" name="Google Shape;318;p32" descr="preencoded.png"/>
          <p:cNvPicPr preferRelativeResize="0"/>
          <p:nvPr/>
        </p:nvPicPr>
        <p:blipFill rotWithShape="1">
          <a:blip r:embed="rId5">
            <a:alphaModFix/>
          </a:blip>
          <a:srcRect/>
          <a:stretch/>
        </p:blipFill>
        <p:spPr>
          <a:xfrm>
            <a:off x="6208812" y="4458891"/>
            <a:ext cx="451346" cy="451346"/>
          </a:xfrm>
          <a:prstGeom prst="rect">
            <a:avLst/>
          </a:prstGeom>
          <a:noFill/>
          <a:ln>
            <a:noFill/>
          </a:ln>
        </p:spPr>
      </p:pic>
      <p:sp>
        <p:nvSpPr>
          <p:cNvPr id="319" name="Google Shape;319;p32"/>
          <p:cNvSpPr/>
          <p:nvPr/>
        </p:nvSpPr>
        <p:spPr>
          <a:xfrm>
            <a:off x="6840637" y="4534495"/>
            <a:ext cx="1930995" cy="593725"/>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MT3608 Boost Converter</a:t>
            </a:r>
            <a:endParaRPr sz="1833" b="0" i="0" u="none" strike="noStrike" cap="none">
              <a:solidFill>
                <a:schemeClr val="dk1"/>
              </a:solidFill>
              <a:latin typeface="Arial"/>
              <a:ea typeface="Arial"/>
              <a:cs typeface="Arial"/>
              <a:sym typeface="Arial"/>
            </a:endParaRPr>
          </a:p>
        </p:txBody>
      </p:sp>
      <p:sp>
        <p:nvSpPr>
          <p:cNvPr id="320" name="Google Shape;320;p32"/>
          <p:cNvSpPr/>
          <p:nvPr/>
        </p:nvSpPr>
        <p:spPr>
          <a:xfrm>
            <a:off x="6840637" y="5236468"/>
            <a:ext cx="1930995" cy="577850"/>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Boosts 12V to 24V for solenoid valve.</a:t>
            </a:r>
            <a:endParaRPr sz="1417" b="0" i="0" u="none" strike="noStrike" cap="none">
              <a:solidFill>
                <a:schemeClr val="dk1"/>
              </a:solidFill>
              <a:latin typeface="Arial"/>
              <a:ea typeface="Arial"/>
              <a:cs typeface="Arial"/>
              <a:sym typeface="Arial"/>
            </a:endParaRPr>
          </a:p>
        </p:txBody>
      </p:sp>
      <p:pic>
        <p:nvPicPr>
          <p:cNvPr id="321" name="Google Shape;321;p32" descr="preencoded.png"/>
          <p:cNvPicPr preferRelativeResize="0"/>
          <p:nvPr/>
        </p:nvPicPr>
        <p:blipFill rotWithShape="1">
          <a:blip r:embed="rId6">
            <a:alphaModFix/>
          </a:blip>
          <a:srcRect/>
          <a:stretch/>
        </p:blipFill>
        <p:spPr>
          <a:xfrm>
            <a:off x="8997256" y="4458891"/>
            <a:ext cx="451346" cy="451346"/>
          </a:xfrm>
          <a:prstGeom prst="rect">
            <a:avLst/>
          </a:prstGeom>
          <a:noFill/>
          <a:ln>
            <a:noFill/>
          </a:ln>
        </p:spPr>
      </p:pic>
      <p:sp>
        <p:nvSpPr>
          <p:cNvPr id="322" name="Google Shape;322;p32"/>
          <p:cNvSpPr/>
          <p:nvPr/>
        </p:nvSpPr>
        <p:spPr>
          <a:xfrm>
            <a:off x="9629081" y="4534495"/>
            <a:ext cx="1930995" cy="593725"/>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Separate Power Lines</a:t>
            </a:r>
            <a:endParaRPr sz="1833" b="0" i="0" u="none" strike="noStrike" cap="none">
              <a:solidFill>
                <a:schemeClr val="dk1"/>
              </a:solidFill>
              <a:latin typeface="Arial"/>
              <a:ea typeface="Arial"/>
              <a:cs typeface="Arial"/>
              <a:sym typeface="Arial"/>
            </a:endParaRPr>
          </a:p>
        </p:txBody>
      </p:sp>
      <p:sp>
        <p:nvSpPr>
          <p:cNvPr id="323" name="Google Shape;323;p32"/>
          <p:cNvSpPr/>
          <p:nvPr/>
        </p:nvSpPr>
        <p:spPr>
          <a:xfrm>
            <a:off x="9629081" y="5236468"/>
            <a:ext cx="1930995" cy="577850"/>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Ensures stable power to pump and ESP.</a:t>
            </a:r>
            <a:endParaRPr sz="1417" b="0" i="0" u="none" strike="noStrike" cap="none">
              <a:solidFill>
                <a:schemeClr val="dk1"/>
              </a:solidFill>
              <a:latin typeface="Arial"/>
              <a:ea typeface="Arial"/>
              <a:cs typeface="Arial"/>
              <a:sym typeface="Arial"/>
            </a:endParaRPr>
          </a:p>
        </p:txBody>
      </p:sp>
      <p:pic>
        <p:nvPicPr>
          <p:cNvPr id="324" name="Google Shape;324;p32" descr="A white background with black dots&#10;&#10;AI-generated content may be incorrect."/>
          <p:cNvPicPr preferRelativeResize="0"/>
          <p:nvPr/>
        </p:nvPicPr>
        <p:blipFill rotWithShape="1">
          <a:blip r:embed="rId7">
            <a:alphaModFix/>
          </a:blip>
          <a:srcRect/>
          <a:stretch/>
        </p:blipFill>
        <p:spPr>
          <a:xfrm>
            <a:off x="9886950" y="6283699"/>
            <a:ext cx="2301689" cy="5771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8"/>
        <p:cNvGrpSpPr/>
        <p:nvPr/>
      </p:nvGrpSpPr>
      <p:grpSpPr>
        <a:xfrm>
          <a:off x="0" y="0"/>
          <a:ext cx="0" cy="0"/>
          <a:chOff x="0" y="0"/>
          <a:chExt cx="0" cy="0"/>
        </a:xfrm>
      </p:grpSpPr>
      <p:pic>
        <p:nvPicPr>
          <p:cNvPr id="329" name="Google Shape;329;p33" descr="A diagram of a machine&#10;&#10;AI-generated content may be incorrect."/>
          <p:cNvPicPr preferRelativeResize="0"/>
          <p:nvPr/>
        </p:nvPicPr>
        <p:blipFill rotWithShape="1">
          <a:blip r:embed="rId3">
            <a:alphaModFix/>
          </a:blip>
          <a:srcRect/>
          <a:stretch/>
        </p:blipFill>
        <p:spPr>
          <a:xfrm>
            <a:off x="2116665" y="643466"/>
            <a:ext cx="7958670" cy="5571067"/>
          </a:xfrm>
          <a:prstGeom prst="rect">
            <a:avLst/>
          </a:prstGeom>
          <a:noFill/>
          <a:ln>
            <a:noFill/>
          </a:ln>
        </p:spPr>
      </p:pic>
      <p:sp>
        <p:nvSpPr>
          <p:cNvPr id="330" name="Google Shape;330;p33"/>
          <p:cNvSpPr txBox="1"/>
          <p:nvPr/>
        </p:nvSpPr>
        <p:spPr>
          <a:xfrm>
            <a:off x="4727198" y="6367569"/>
            <a:ext cx="2743200" cy="3657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Internal Circuit Diagram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4"/>
          <p:cNvSpPr/>
          <p:nvPr/>
        </p:nvSpPr>
        <p:spPr>
          <a:xfrm>
            <a:off x="512776" y="404025"/>
            <a:ext cx="5673900" cy="481800"/>
          </a:xfrm>
          <a:prstGeom prst="rect">
            <a:avLst/>
          </a:prstGeom>
          <a:noFill/>
          <a:ln>
            <a:noFill/>
          </a:ln>
        </p:spPr>
        <p:txBody>
          <a:bodyPr spcFirstLastPara="1" wrap="square" lIns="0" tIns="0" rIns="0" bIns="0" anchor="t" anchorCtr="0">
            <a:noAutofit/>
          </a:bodyPr>
          <a:lstStyle/>
          <a:p>
            <a:pPr marL="0" marR="0" lvl="0" indent="0" algn="l" rtl="0">
              <a:lnSpc>
                <a:spcPct val="126400"/>
              </a:lnSpc>
              <a:spcBef>
                <a:spcPts val="0"/>
              </a:spcBef>
              <a:spcAft>
                <a:spcPts val="0"/>
              </a:spcAft>
              <a:buClr>
                <a:srgbClr val="2E3C4E"/>
              </a:buClr>
              <a:buSzPts val="3000"/>
              <a:buFont typeface="Barlow"/>
              <a:buNone/>
            </a:pPr>
            <a:r>
              <a:rPr lang="en-US" sz="3000" b="1" i="0" u="none" strike="noStrike" cap="none">
                <a:solidFill>
                  <a:srgbClr val="2E3C4E"/>
                </a:solidFill>
                <a:latin typeface="Barlow"/>
                <a:ea typeface="Barlow"/>
                <a:cs typeface="Barlow"/>
                <a:sym typeface="Barlow"/>
              </a:rPr>
              <a:t>Working Principle of </a:t>
            </a:r>
            <a:r>
              <a:rPr lang="en-US" sz="3000" b="1">
                <a:solidFill>
                  <a:srgbClr val="2E3C4E"/>
                </a:solidFill>
                <a:latin typeface="Barlow"/>
                <a:ea typeface="Barlow"/>
                <a:cs typeface="Barlow"/>
                <a:sym typeface="Barlow"/>
              </a:rPr>
              <a:t>SPRINT</a:t>
            </a:r>
            <a:endParaRPr sz="3000" b="0" i="0" u="none" strike="noStrike" cap="none">
              <a:solidFill>
                <a:schemeClr val="dk1"/>
              </a:solidFill>
              <a:latin typeface="Arial"/>
              <a:ea typeface="Arial"/>
              <a:cs typeface="Arial"/>
              <a:sym typeface="Arial"/>
            </a:endParaRPr>
          </a:p>
        </p:txBody>
      </p:sp>
      <p:pic>
        <p:nvPicPr>
          <p:cNvPr id="337" name="Google Shape;337;p34" descr="preencoded.png"/>
          <p:cNvPicPr preferRelativeResize="0"/>
          <p:nvPr/>
        </p:nvPicPr>
        <p:blipFill rotWithShape="1">
          <a:blip r:embed="rId3">
            <a:alphaModFix/>
          </a:blip>
          <a:srcRect/>
          <a:stretch/>
        </p:blipFill>
        <p:spPr>
          <a:xfrm>
            <a:off x="512762" y="1178918"/>
            <a:ext cx="732632" cy="879178"/>
          </a:xfrm>
          <a:prstGeom prst="rect">
            <a:avLst/>
          </a:prstGeom>
          <a:noFill/>
          <a:ln>
            <a:noFill/>
          </a:ln>
        </p:spPr>
      </p:pic>
      <p:sp>
        <p:nvSpPr>
          <p:cNvPr id="338" name="Google Shape;338;p34"/>
          <p:cNvSpPr/>
          <p:nvPr/>
        </p:nvSpPr>
        <p:spPr>
          <a:xfrm>
            <a:off x="1465164" y="1325364"/>
            <a:ext cx="1928019" cy="24090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84653"/>
              </a:buClr>
              <a:buSzPts val="1500"/>
              <a:buFont typeface="Barlow"/>
              <a:buNone/>
            </a:pPr>
            <a:r>
              <a:rPr lang="en-US" sz="1500" b="1" i="0" u="none" strike="noStrike" cap="none">
                <a:solidFill>
                  <a:srgbClr val="384653"/>
                </a:solidFill>
                <a:latin typeface="Barlow"/>
                <a:ea typeface="Barlow"/>
                <a:cs typeface="Barlow"/>
                <a:sym typeface="Barlow"/>
              </a:rPr>
              <a:t>User Command</a:t>
            </a:r>
            <a:endParaRPr sz="1500" b="0" i="0" u="none" strike="noStrike" cap="none">
              <a:solidFill>
                <a:schemeClr val="dk1"/>
              </a:solidFill>
              <a:latin typeface="Arial"/>
              <a:ea typeface="Arial"/>
              <a:cs typeface="Arial"/>
              <a:sym typeface="Arial"/>
            </a:endParaRPr>
          </a:p>
        </p:txBody>
      </p:sp>
      <p:sp>
        <p:nvSpPr>
          <p:cNvPr id="339" name="Google Shape;339;p34"/>
          <p:cNvSpPr/>
          <p:nvPr/>
        </p:nvSpPr>
        <p:spPr>
          <a:xfrm>
            <a:off x="1465164" y="1654176"/>
            <a:ext cx="10214074" cy="234454"/>
          </a:xfrm>
          <a:prstGeom prst="rect">
            <a:avLst/>
          </a:prstGeom>
          <a:noFill/>
          <a:ln>
            <a:noFill/>
          </a:ln>
        </p:spPr>
        <p:txBody>
          <a:bodyPr spcFirstLastPara="1" wrap="square" lIns="0" tIns="0" rIns="0" bIns="0" anchor="t" anchorCtr="0">
            <a:noAutofit/>
          </a:bodyPr>
          <a:lstStyle/>
          <a:p>
            <a:pPr marL="0" marR="0" lvl="0" indent="0" algn="l" rtl="0">
              <a:lnSpc>
                <a:spcPct val="162933"/>
              </a:lnSpc>
              <a:spcBef>
                <a:spcPts val="0"/>
              </a:spcBef>
              <a:spcAft>
                <a:spcPts val="0"/>
              </a:spcAft>
              <a:buClr>
                <a:srgbClr val="384653"/>
              </a:buClr>
              <a:buSzPts val="1125"/>
              <a:buFont typeface="Montserrat"/>
              <a:buNone/>
            </a:pPr>
            <a:r>
              <a:rPr lang="en-US" sz="1125" b="0" i="0" u="none" strike="noStrike" cap="none">
                <a:solidFill>
                  <a:srgbClr val="384653"/>
                </a:solidFill>
                <a:latin typeface="Montserrat"/>
                <a:ea typeface="Montserrat"/>
                <a:cs typeface="Montserrat"/>
                <a:sym typeface="Montserrat"/>
              </a:rPr>
              <a:t>User initiates spraying via the mobile app (e.g., "Start Spraying").</a:t>
            </a:r>
            <a:endParaRPr sz="1125" b="0" i="0" u="none" strike="noStrike" cap="none">
              <a:solidFill>
                <a:schemeClr val="dk1"/>
              </a:solidFill>
              <a:latin typeface="Arial"/>
              <a:ea typeface="Arial"/>
              <a:cs typeface="Arial"/>
              <a:sym typeface="Arial"/>
            </a:endParaRPr>
          </a:p>
        </p:txBody>
      </p:sp>
      <p:pic>
        <p:nvPicPr>
          <p:cNvPr id="340" name="Google Shape;340;p34" descr="preencoded.png"/>
          <p:cNvPicPr preferRelativeResize="0"/>
          <p:nvPr/>
        </p:nvPicPr>
        <p:blipFill rotWithShape="1">
          <a:blip r:embed="rId4">
            <a:alphaModFix/>
          </a:blip>
          <a:srcRect/>
          <a:stretch/>
        </p:blipFill>
        <p:spPr>
          <a:xfrm>
            <a:off x="512762" y="2058094"/>
            <a:ext cx="732632" cy="879178"/>
          </a:xfrm>
          <a:prstGeom prst="rect">
            <a:avLst/>
          </a:prstGeom>
          <a:noFill/>
          <a:ln>
            <a:noFill/>
          </a:ln>
        </p:spPr>
      </p:pic>
      <p:sp>
        <p:nvSpPr>
          <p:cNvPr id="341" name="Google Shape;341;p34"/>
          <p:cNvSpPr/>
          <p:nvPr/>
        </p:nvSpPr>
        <p:spPr>
          <a:xfrm>
            <a:off x="1465164" y="2204542"/>
            <a:ext cx="1928019" cy="24090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84653"/>
              </a:buClr>
              <a:buSzPts val="1500"/>
              <a:buFont typeface="Barlow"/>
              <a:buNone/>
            </a:pPr>
            <a:r>
              <a:rPr lang="en-US" sz="1500" b="1" i="0" u="none" strike="noStrike" cap="none">
                <a:solidFill>
                  <a:srgbClr val="384653"/>
                </a:solidFill>
                <a:latin typeface="Barlow"/>
                <a:ea typeface="Barlow"/>
                <a:cs typeface="Barlow"/>
                <a:sym typeface="Barlow"/>
              </a:rPr>
              <a:t>Firebase Update</a:t>
            </a:r>
            <a:endParaRPr sz="1500" b="0" i="0" u="none" strike="noStrike" cap="none">
              <a:solidFill>
                <a:schemeClr val="dk1"/>
              </a:solidFill>
              <a:latin typeface="Arial"/>
              <a:ea typeface="Arial"/>
              <a:cs typeface="Arial"/>
              <a:sym typeface="Arial"/>
            </a:endParaRPr>
          </a:p>
        </p:txBody>
      </p:sp>
      <p:sp>
        <p:nvSpPr>
          <p:cNvPr id="342" name="Google Shape;342;p34"/>
          <p:cNvSpPr/>
          <p:nvPr/>
        </p:nvSpPr>
        <p:spPr>
          <a:xfrm>
            <a:off x="1465164" y="2533353"/>
            <a:ext cx="10214074" cy="234454"/>
          </a:xfrm>
          <a:prstGeom prst="rect">
            <a:avLst/>
          </a:prstGeom>
          <a:noFill/>
          <a:ln>
            <a:noFill/>
          </a:ln>
        </p:spPr>
        <p:txBody>
          <a:bodyPr spcFirstLastPara="1" wrap="square" lIns="0" tIns="0" rIns="0" bIns="0" anchor="t" anchorCtr="0">
            <a:noAutofit/>
          </a:bodyPr>
          <a:lstStyle/>
          <a:p>
            <a:pPr marL="0" marR="0" lvl="0" indent="0" algn="l" rtl="0">
              <a:lnSpc>
                <a:spcPct val="162933"/>
              </a:lnSpc>
              <a:spcBef>
                <a:spcPts val="0"/>
              </a:spcBef>
              <a:spcAft>
                <a:spcPts val="0"/>
              </a:spcAft>
              <a:buClr>
                <a:srgbClr val="384653"/>
              </a:buClr>
              <a:buSzPts val="1125"/>
              <a:buFont typeface="Montserrat"/>
              <a:buNone/>
            </a:pPr>
            <a:r>
              <a:rPr lang="en-US" sz="1125" b="0" i="0" u="none" strike="noStrike" cap="none">
                <a:solidFill>
                  <a:srgbClr val="384653"/>
                </a:solidFill>
                <a:latin typeface="Montserrat"/>
                <a:ea typeface="Montserrat"/>
                <a:cs typeface="Montserrat"/>
                <a:sym typeface="Montserrat"/>
              </a:rPr>
              <a:t>The command updates a specific key in the Firebase Realtime Database.</a:t>
            </a:r>
            <a:endParaRPr sz="1125" b="0" i="0" u="none" strike="noStrike" cap="none">
              <a:solidFill>
                <a:schemeClr val="dk1"/>
              </a:solidFill>
              <a:latin typeface="Arial"/>
              <a:ea typeface="Arial"/>
              <a:cs typeface="Arial"/>
              <a:sym typeface="Arial"/>
            </a:endParaRPr>
          </a:p>
        </p:txBody>
      </p:sp>
      <p:pic>
        <p:nvPicPr>
          <p:cNvPr id="343" name="Google Shape;343;p34" descr="preencoded.png"/>
          <p:cNvPicPr preferRelativeResize="0"/>
          <p:nvPr/>
        </p:nvPicPr>
        <p:blipFill rotWithShape="1">
          <a:blip r:embed="rId5">
            <a:alphaModFix/>
          </a:blip>
          <a:srcRect/>
          <a:stretch/>
        </p:blipFill>
        <p:spPr>
          <a:xfrm>
            <a:off x="512762" y="2937272"/>
            <a:ext cx="732632" cy="879178"/>
          </a:xfrm>
          <a:prstGeom prst="rect">
            <a:avLst/>
          </a:prstGeom>
          <a:noFill/>
          <a:ln>
            <a:noFill/>
          </a:ln>
        </p:spPr>
      </p:pic>
      <p:sp>
        <p:nvSpPr>
          <p:cNvPr id="344" name="Google Shape;344;p34"/>
          <p:cNvSpPr/>
          <p:nvPr/>
        </p:nvSpPr>
        <p:spPr>
          <a:xfrm>
            <a:off x="1465164" y="3083719"/>
            <a:ext cx="1928019" cy="24090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84653"/>
              </a:buClr>
              <a:buSzPts val="1500"/>
              <a:buFont typeface="Barlow"/>
              <a:buNone/>
            </a:pPr>
            <a:r>
              <a:rPr lang="en-US" sz="1500" b="1" i="0" u="none" strike="noStrike" cap="none">
                <a:solidFill>
                  <a:srgbClr val="384653"/>
                </a:solidFill>
                <a:latin typeface="Barlow"/>
                <a:ea typeface="Barlow"/>
                <a:cs typeface="Barlow"/>
                <a:sym typeface="Barlow"/>
              </a:rPr>
              <a:t>ESP-01 Data Polling</a:t>
            </a:r>
            <a:endParaRPr sz="1500" b="0" i="0" u="none" strike="noStrike" cap="none">
              <a:solidFill>
                <a:schemeClr val="dk1"/>
              </a:solidFill>
              <a:latin typeface="Arial"/>
              <a:ea typeface="Arial"/>
              <a:cs typeface="Arial"/>
              <a:sym typeface="Arial"/>
            </a:endParaRPr>
          </a:p>
        </p:txBody>
      </p:sp>
      <p:sp>
        <p:nvSpPr>
          <p:cNvPr id="345" name="Google Shape;345;p34"/>
          <p:cNvSpPr/>
          <p:nvPr/>
        </p:nvSpPr>
        <p:spPr>
          <a:xfrm>
            <a:off x="1465164" y="3412531"/>
            <a:ext cx="10214074" cy="234454"/>
          </a:xfrm>
          <a:prstGeom prst="rect">
            <a:avLst/>
          </a:prstGeom>
          <a:noFill/>
          <a:ln>
            <a:noFill/>
          </a:ln>
        </p:spPr>
        <p:txBody>
          <a:bodyPr spcFirstLastPara="1" wrap="square" lIns="0" tIns="0" rIns="0" bIns="0" anchor="t" anchorCtr="0">
            <a:noAutofit/>
          </a:bodyPr>
          <a:lstStyle/>
          <a:p>
            <a:pPr marL="0" marR="0" lvl="0" indent="0" algn="l" rtl="0">
              <a:lnSpc>
                <a:spcPct val="162933"/>
              </a:lnSpc>
              <a:spcBef>
                <a:spcPts val="0"/>
              </a:spcBef>
              <a:spcAft>
                <a:spcPts val="0"/>
              </a:spcAft>
              <a:buClr>
                <a:srgbClr val="384653"/>
              </a:buClr>
              <a:buSzPts val="1125"/>
              <a:buFont typeface="Montserrat"/>
              <a:buNone/>
            </a:pPr>
            <a:r>
              <a:rPr lang="en-US" sz="1125" b="0" i="0" u="none" strike="noStrike" cap="none">
                <a:solidFill>
                  <a:srgbClr val="384653"/>
                </a:solidFill>
                <a:latin typeface="Montserrat"/>
                <a:ea typeface="Montserrat"/>
                <a:cs typeface="Montserrat"/>
                <a:sym typeface="Montserrat"/>
              </a:rPr>
              <a:t>ESP-01 continuously monitors Firebase, fetching new values in real-time.</a:t>
            </a:r>
            <a:endParaRPr sz="1125" b="0" i="0" u="none" strike="noStrike" cap="none">
              <a:solidFill>
                <a:schemeClr val="dk1"/>
              </a:solidFill>
              <a:latin typeface="Arial"/>
              <a:ea typeface="Arial"/>
              <a:cs typeface="Arial"/>
              <a:sym typeface="Arial"/>
            </a:endParaRPr>
          </a:p>
        </p:txBody>
      </p:sp>
      <p:pic>
        <p:nvPicPr>
          <p:cNvPr id="346" name="Google Shape;346;p34" descr="preencoded.png"/>
          <p:cNvPicPr preferRelativeResize="0"/>
          <p:nvPr/>
        </p:nvPicPr>
        <p:blipFill rotWithShape="1">
          <a:blip r:embed="rId6">
            <a:alphaModFix/>
          </a:blip>
          <a:srcRect/>
          <a:stretch/>
        </p:blipFill>
        <p:spPr>
          <a:xfrm>
            <a:off x="512762" y="3816449"/>
            <a:ext cx="732632" cy="879178"/>
          </a:xfrm>
          <a:prstGeom prst="rect">
            <a:avLst/>
          </a:prstGeom>
          <a:noFill/>
          <a:ln>
            <a:noFill/>
          </a:ln>
        </p:spPr>
      </p:pic>
      <p:sp>
        <p:nvSpPr>
          <p:cNvPr id="347" name="Google Shape;347;p34"/>
          <p:cNvSpPr/>
          <p:nvPr/>
        </p:nvSpPr>
        <p:spPr>
          <a:xfrm>
            <a:off x="1465164" y="3962896"/>
            <a:ext cx="1928019" cy="24090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84653"/>
              </a:buClr>
              <a:buSzPts val="1500"/>
              <a:buFont typeface="Barlow"/>
              <a:buNone/>
            </a:pPr>
            <a:r>
              <a:rPr lang="en-US" sz="1500" b="1" i="0" u="none" strike="noStrike" cap="none">
                <a:solidFill>
                  <a:srgbClr val="384653"/>
                </a:solidFill>
                <a:latin typeface="Barlow"/>
                <a:ea typeface="Barlow"/>
                <a:cs typeface="Barlow"/>
                <a:sym typeface="Barlow"/>
              </a:rPr>
              <a:t>Logical Decision</a:t>
            </a:r>
            <a:endParaRPr sz="1500" b="0" i="0" u="none" strike="noStrike" cap="none">
              <a:solidFill>
                <a:schemeClr val="dk1"/>
              </a:solidFill>
              <a:latin typeface="Arial"/>
              <a:ea typeface="Arial"/>
              <a:cs typeface="Arial"/>
              <a:sym typeface="Arial"/>
            </a:endParaRPr>
          </a:p>
        </p:txBody>
      </p:sp>
      <p:sp>
        <p:nvSpPr>
          <p:cNvPr id="348" name="Google Shape;348;p34"/>
          <p:cNvSpPr/>
          <p:nvPr/>
        </p:nvSpPr>
        <p:spPr>
          <a:xfrm>
            <a:off x="1465164" y="4291707"/>
            <a:ext cx="10214074" cy="234454"/>
          </a:xfrm>
          <a:prstGeom prst="rect">
            <a:avLst/>
          </a:prstGeom>
          <a:noFill/>
          <a:ln>
            <a:noFill/>
          </a:ln>
        </p:spPr>
        <p:txBody>
          <a:bodyPr spcFirstLastPara="1" wrap="square" lIns="0" tIns="0" rIns="0" bIns="0" anchor="t" anchorCtr="0">
            <a:noAutofit/>
          </a:bodyPr>
          <a:lstStyle/>
          <a:p>
            <a:pPr marL="0" marR="0" lvl="0" indent="0" algn="l" rtl="0">
              <a:lnSpc>
                <a:spcPct val="162933"/>
              </a:lnSpc>
              <a:spcBef>
                <a:spcPts val="0"/>
              </a:spcBef>
              <a:spcAft>
                <a:spcPts val="0"/>
              </a:spcAft>
              <a:buClr>
                <a:srgbClr val="384653"/>
              </a:buClr>
              <a:buSzPts val="1125"/>
              <a:buFont typeface="Montserrat"/>
              <a:buNone/>
            </a:pPr>
            <a:r>
              <a:rPr lang="en-US" sz="1125" b="0" i="0" u="none" strike="noStrike" cap="none">
                <a:solidFill>
                  <a:srgbClr val="384653"/>
                </a:solidFill>
                <a:latin typeface="Montserrat"/>
                <a:ea typeface="Montserrat"/>
                <a:cs typeface="Montserrat"/>
                <a:sym typeface="Montserrat"/>
              </a:rPr>
              <a:t>Microcontroller decides to activate GPIO pin based on the received value.</a:t>
            </a:r>
            <a:endParaRPr sz="1125" b="0" i="0" u="none" strike="noStrike" cap="none">
              <a:solidFill>
                <a:schemeClr val="dk1"/>
              </a:solidFill>
              <a:latin typeface="Arial"/>
              <a:ea typeface="Arial"/>
              <a:cs typeface="Arial"/>
              <a:sym typeface="Arial"/>
            </a:endParaRPr>
          </a:p>
        </p:txBody>
      </p:sp>
      <p:pic>
        <p:nvPicPr>
          <p:cNvPr id="349" name="Google Shape;349;p34" descr="preencoded.png"/>
          <p:cNvPicPr preferRelativeResize="0"/>
          <p:nvPr/>
        </p:nvPicPr>
        <p:blipFill rotWithShape="1">
          <a:blip r:embed="rId7">
            <a:alphaModFix/>
          </a:blip>
          <a:srcRect/>
          <a:stretch/>
        </p:blipFill>
        <p:spPr>
          <a:xfrm>
            <a:off x="512762" y="4695627"/>
            <a:ext cx="732632" cy="879178"/>
          </a:xfrm>
          <a:prstGeom prst="rect">
            <a:avLst/>
          </a:prstGeom>
          <a:noFill/>
          <a:ln>
            <a:noFill/>
          </a:ln>
        </p:spPr>
      </p:pic>
      <p:sp>
        <p:nvSpPr>
          <p:cNvPr id="350" name="Google Shape;350;p34"/>
          <p:cNvSpPr/>
          <p:nvPr/>
        </p:nvSpPr>
        <p:spPr>
          <a:xfrm>
            <a:off x="1465164" y="4842074"/>
            <a:ext cx="1928019" cy="24090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84653"/>
              </a:buClr>
              <a:buSzPts val="1500"/>
              <a:buFont typeface="Barlow"/>
              <a:buNone/>
            </a:pPr>
            <a:r>
              <a:rPr lang="en-US" sz="1500" b="1" i="0" u="none" strike="noStrike" cap="none">
                <a:solidFill>
                  <a:srgbClr val="384653"/>
                </a:solidFill>
                <a:latin typeface="Barlow"/>
                <a:ea typeface="Barlow"/>
                <a:cs typeface="Barlow"/>
                <a:sym typeface="Barlow"/>
              </a:rPr>
              <a:t>Relay Activation</a:t>
            </a:r>
            <a:endParaRPr sz="1500" b="0" i="0" u="none" strike="noStrike" cap="none">
              <a:solidFill>
                <a:schemeClr val="dk1"/>
              </a:solidFill>
              <a:latin typeface="Arial"/>
              <a:ea typeface="Arial"/>
              <a:cs typeface="Arial"/>
              <a:sym typeface="Arial"/>
            </a:endParaRPr>
          </a:p>
        </p:txBody>
      </p:sp>
      <p:sp>
        <p:nvSpPr>
          <p:cNvPr id="351" name="Google Shape;351;p34"/>
          <p:cNvSpPr/>
          <p:nvPr/>
        </p:nvSpPr>
        <p:spPr>
          <a:xfrm>
            <a:off x="1465164" y="5170885"/>
            <a:ext cx="10214074" cy="234454"/>
          </a:xfrm>
          <a:prstGeom prst="rect">
            <a:avLst/>
          </a:prstGeom>
          <a:noFill/>
          <a:ln>
            <a:noFill/>
          </a:ln>
        </p:spPr>
        <p:txBody>
          <a:bodyPr spcFirstLastPara="1" wrap="square" lIns="0" tIns="0" rIns="0" bIns="0" anchor="t" anchorCtr="0">
            <a:noAutofit/>
          </a:bodyPr>
          <a:lstStyle/>
          <a:p>
            <a:pPr marL="0" marR="0" lvl="0" indent="0" algn="l" rtl="0">
              <a:lnSpc>
                <a:spcPct val="162933"/>
              </a:lnSpc>
              <a:spcBef>
                <a:spcPts val="0"/>
              </a:spcBef>
              <a:spcAft>
                <a:spcPts val="0"/>
              </a:spcAft>
              <a:buClr>
                <a:srgbClr val="384653"/>
              </a:buClr>
              <a:buSzPts val="1125"/>
              <a:buFont typeface="Montserrat"/>
              <a:buNone/>
            </a:pPr>
            <a:r>
              <a:rPr lang="en-US" sz="1125" b="0" i="0" u="none" strike="noStrike" cap="none">
                <a:solidFill>
                  <a:srgbClr val="384653"/>
                </a:solidFill>
                <a:latin typeface="Montserrat"/>
                <a:ea typeface="Montserrat"/>
                <a:cs typeface="Montserrat"/>
                <a:sym typeface="Montserrat"/>
              </a:rPr>
              <a:t>Relay module energises pressure pump and solenoid valve simultaneously.</a:t>
            </a:r>
            <a:endParaRPr sz="1125" b="0" i="0" u="none" strike="noStrike" cap="none">
              <a:solidFill>
                <a:schemeClr val="dk1"/>
              </a:solidFill>
              <a:latin typeface="Arial"/>
              <a:ea typeface="Arial"/>
              <a:cs typeface="Arial"/>
              <a:sym typeface="Arial"/>
            </a:endParaRPr>
          </a:p>
        </p:txBody>
      </p:sp>
      <p:pic>
        <p:nvPicPr>
          <p:cNvPr id="352" name="Google Shape;352;p34" descr="preencoded.png"/>
          <p:cNvPicPr preferRelativeResize="0"/>
          <p:nvPr/>
        </p:nvPicPr>
        <p:blipFill rotWithShape="1">
          <a:blip r:embed="rId8">
            <a:alphaModFix/>
          </a:blip>
          <a:srcRect/>
          <a:stretch/>
        </p:blipFill>
        <p:spPr>
          <a:xfrm>
            <a:off x="512762" y="5574804"/>
            <a:ext cx="732632" cy="879178"/>
          </a:xfrm>
          <a:prstGeom prst="rect">
            <a:avLst/>
          </a:prstGeom>
          <a:noFill/>
          <a:ln>
            <a:noFill/>
          </a:ln>
        </p:spPr>
      </p:pic>
      <p:sp>
        <p:nvSpPr>
          <p:cNvPr id="353" name="Google Shape;353;p34"/>
          <p:cNvSpPr/>
          <p:nvPr/>
        </p:nvSpPr>
        <p:spPr>
          <a:xfrm>
            <a:off x="1465164" y="5721251"/>
            <a:ext cx="1928019" cy="24090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84653"/>
              </a:buClr>
              <a:buSzPts val="1500"/>
              <a:buFont typeface="Barlow"/>
              <a:buNone/>
            </a:pPr>
            <a:r>
              <a:rPr lang="en-US" sz="1500" b="1" i="0" u="none" strike="noStrike" cap="none">
                <a:solidFill>
                  <a:srgbClr val="384653"/>
                </a:solidFill>
                <a:latin typeface="Barlow"/>
                <a:ea typeface="Barlow"/>
                <a:cs typeface="Barlow"/>
                <a:sym typeface="Barlow"/>
              </a:rPr>
              <a:t>Spraying Process</a:t>
            </a:r>
            <a:endParaRPr sz="1500" b="0" i="0" u="none" strike="noStrike" cap="none">
              <a:solidFill>
                <a:schemeClr val="dk1"/>
              </a:solidFill>
              <a:latin typeface="Arial"/>
              <a:ea typeface="Arial"/>
              <a:cs typeface="Arial"/>
              <a:sym typeface="Arial"/>
            </a:endParaRPr>
          </a:p>
        </p:txBody>
      </p:sp>
      <p:sp>
        <p:nvSpPr>
          <p:cNvPr id="354" name="Google Shape;354;p34"/>
          <p:cNvSpPr/>
          <p:nvPr/>
        </p:nvSpPr>
        <p:spPr>
          <a:xfrm>
            <a:off x="1465164" y="6050062"/>
            <a:ext cx="10214074" cy="234454"/>
          </a:xfrm>
          <a:prstGeom prst="rect">
            <a:avLst/>
          </a:prstGeom>
          <a:noFill/>
          <a:ln>
            <a:noFill/>
          </a:ln>
        </p:spPr>
        <p:txBody>
          <a:bodyPr spcFirstLastPara="1" wrap="square" lIns="0" tIns="0" rIns="0" bIns="0" anchor="t" anchorCtr="0">
            <a:noAutofit/>
          </a:bodyPr>
          <a:lstStyle/>
          <a:p>
            <a:pPr marL="0" marR="0" lvl="0" indent="0" algn="l" rtl="0">
              <a:lnSpc>
                <a:spcPct val="162933"/>
              </a:lnSpc>
              <a:spcBef>
                <a:spcPts val="0"/>
              </a:spcBef>
              <a:spcAft>
                <a:spcPts val="0"/>
              </a:spcAft>
              <a:buClr>
                <a:srgbClr val="384653"/>
              </a:buClr>
              <a:buSzPts val="1125"/>
              <a:buFont typeface="Montserrat"/>
              <a:buNone/>
            </a:pPr>
            <a:r>
              <a:rPr lang="en-US" sz="1125" b="0" i="0" u="none" strike="noStrike" cap="none">
                <a:solidFill>
                  <a:srgbClr val="384653"/>
                </a:solidFill>
                <a:latin typeface="Montserrat"/>
                <a:ea typeface="Montserrat"/>
                <a:cs typeface="Montserrat"/>
                <a:sym typeface="Montserrat"/>
              </a:rPr>
              <a:t>System sprays until a "stop" command is sent or timeout occurs.</a:t>
            </a:r>
            <a:endParaRPr sz="1125" b="0" i="0" u="none" strike="noStrike" cap="none">
              <a:solidFill>
                <a:schemeClr val="dk1"/>
              </a:solidFill>
              <a:latin typeface="Arial"/>
              <a:ea typeface="Arial"/>
              <a:cs typeface="Arial"/>
              <a:sym typeface="Arial"/>
            </a:endParaRPr>
          </a:p>
        </p:txBody>
      </p:sp>
      <p:pic>
        <p:nvPicPr>
          <p:cNvPr id="355" name="Google Shape;355;p34" descr="A white background with black dots&#10;&#10;AI-generated content may be incorrect."/>
          <p:cNvPicPr preferRelativeResize="0"/>
          <p:nvPr/>
        </p:nvPicPr>
        <p:blipFill rotWithShape="1">
          <a:blip r:embed="rId9">
            <a:alphaModFix/>
          </a:blip>
          <a:srcRect/>
          <a:stretch/>
        </p:blipFill>
        <p:spPr>
          <a:xfrm>
            <a:off x="9886950" y="6283699"/>
            <a:ext cx="2301689" cy="57710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5"/>
          <p:cNvSpPr/>
          <p:nvPr/>
        </p:nvSpPr>
        <p:spPr>
          <a:xfrm>
            <a:off x="631924" y="589558"/>
            <a:ext cx="7306965" cy="593923"/>
          </a:xfrm>
          <a:prstGeom prst="rect">
            <a:avLst/>
          </a:prstGeom>
          <a:noFill/>
          <a:ln>
            <a:noFill/>
          </a:ln>
        </p:spPr>
        <p:txBody>
          <a:bodyPr spcFirstLastPara="1" wrap="square" lIns="0" tIns="0" rIns="0" bIns="0" anchor="t" anchorCtr="0">
            <a:noAutofit/>
          </a:bodyPr>
          <a:lstStyle/>
          <a:p>
            <a:pPr marL="0" marR="0" lvl="0" indent="0" algn="l" rtl="0">
              <a:lnSpc>
                <a:spcPct val="125836"/>
              </a:lnSpc>
              <a:spcBef>
                <a:spcPts val="0"/>
              </a:spcBef>
              <a:spcAft>
                <a:spcPts val="0"/>
              </a:spcAft>
              <a:buClr>
                <a:srgbClr val="2E3C4E"/>
              </a:buClr>
              <a:buSzPts val="3708"/>
              <a:buFont typeface="Barlow"/>
              <a:buNone/>
            </a:pPr>
            <a:r>
              <a:rPr lang="en-US" sz="3708" b="1" i="0" u="none" strike="noStrike" cap="none">
                <a:solidFill>
                  <a:srgbClr val="2E3C4E"/>
                </a:solidFill>
                <a:latin typeface="Barlow"/>
                <a:ea typeface="Barlow"/>
                <a:cs typeface="Barlow"/>
                <a:sym typeface="Barlow"/>
              </a:rPr>
              <a:t>Advantages of the Proposed Model</a:t>
            </a:r>
            <a:endParaRPr sz="3708" b="0" i="0" u="none" strike="noStrike" cap="none">
              <a:solidFill>
                <a:schemeClr val="dk1"/>
              </a:solidFill>
              <a:latin typeface="Arial"/>
              <a:ea typeface="Arial"/>
              <a:cs typeface="Arial"/>
              <a:sym typeface="Arial"/>
            </a:endParaRPr>
          </a:p>
        </p:txBody>
      </p:sp>
      <p:sp>
        <p:nvSpPr>
          <p:cNvPr id="362" name="Google Shape;362;p35"/>
          <p:cNvSpPr/>
          <p:nvPr/>
        </p:nvSpPr>
        <p:spPr>
          <a:xfrm>
            <a:off x="631924" y="1544538"/>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3" name="Google Shape;363;p35" descr="preencoded.png"/>
          <p:cNvPicPr preferRelativeResize="0"/>
          <p:nvPr/>
        </p:nvPicPr>
        <p:blipFill rotWithShape="1">
          <a:blip r:embed="rId3">
            <a:alphaModFix/>
          </a:blip>
          <a:srcRect/>
          <a:stretch/>
        </p:blipFill>
        <p:spPr>
          <a:xfrm>
            <a:off x="692498" y="1569492"/>
            <a:ext cx="285056" cy="356294"/>
          </a:xfrm>
          <a:prstGeom prst="rect">
            <a:avLst/>
          </a:prstGeom>
          <a:noFill/>
          <a:ln>
            <a:noFill/>
          </a:ln>
        </p:spPr>
      </p:pic>
      <p:sp>
        <p:nvSpPr>
          <p:cNvPr id="364" name="Google Shape;364;p35"/>
          <p:cNvSpPr/>
          <p:nvPr/>
        </p:nvSpPr>
        <p:spPr>
          <a:xfrm>
            <a:off x="1218606" y="1606550"/>
            <a:ext cx="2375594"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Cost-Effective</a:t>
            </a:r>
            <a:endParaRPr sz="1833" b="0" i="0" u="none" strike="noStrike" cap="none">
              <a:solidFill>
                <a:schemeClr val="dk1"/>
              </a:solidFill>
              <a:latin typeface="Arial"/>
              <a:ea typeface="Arial"/>
              <a:cs typeface="Arial"/>
              <a:sym typeface="Arial"/>
            </a:endParaRPr>
          </a:p>
        </p:txBody>
      </p:sp>
      <p:sp>
        <p:nvSpPr>
          <p:cNvPr id="365" name="Google Shape;365;p35"/>
          <p:cNvSpPr/>
          <p:nvPr/>
        </p:nvSpPr>
        <p:spPr>
          <a:xfrm>
            <a:off x="1218605" y="2011660"/>
            <a:ext cx="4764583" cy="8667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Utilises inexpensive components and open-source libraries, making it economically viable for various implementations.</a:t>
            </a:r>
            <a:endParaRPr sz="1417" b="0" i="0" u="none" strike="noStrike" cap="none">
              <a:solidFill>
                <a:schemeClr val="dk1"/>
              </a:solidFill>
              <a:latin typeface="Arial"/>
              <a:ea typeface="Arial"/>
              <a:cs typeface="Arial"/>
              <a:sym typeface="Arial"/>
            </a:endParaRPr>
          </a:p>
        </p:txBody>
      </p:sp>
      <p:sp>
        <p:nvSpPr>
          <p:cNvPr id="366" name="Google Shape;366;p35"/>
          <p:cNvSpPr/>
          <p:nvPr/>
        </p:nvSpPr>
        <p:spPr>
          <a:xfrm>
            <a:off x="6208812" y="1544538"/>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7" name="Google Shape;367;p35" descr="preencoded.png"/>
          <p:cNvPicPr preferRelativeResize="0"/>
          <p:nvPr/>
        </p:nvPicPr>
        <p:blipFill rotWithShape="1">
          <a:blip r:embed="rId4">
            <a:alphaModFix/>
          </a:blip>
          <a:srcRect/>
          <a:stretch/>
        </p:blipFill>
        <p:spPr>
          <a:xfrm>
            <a:off x="6269385" y="1569492"/>
            <a:ext cx="285056" cy="356294"/>
          </a:xfrm>
          <a:prstGeom prst="rect">
            <a:avLst/>
          </a:prstGeom>
          <a:noFill/>
          <a:ln>
            <a:noFill/>
          </a:ln>
        </p:spPr>
      </p:pic>
      <p:sp>
        <p:nvSpPr>
          <p:cNvPr id="368" name="Google Shape;368;p35"/>
          <p:cNvSpPr/>
          <p:nvPr/>
        </p:nvSpPr>
        <p:spPr>
          <a:xfrm>
            <a:off x="6795493" y="1606550"/>
            <a:ext cx="2541885"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Real-Time Cloud Control</a:t>
            </a:r>
            <a:endParaRPr sz="1833" b="0" i="0" u="none" strike="noStrike" cap="none">
              <a:solidFill>
                <a:schemeClr val="dk1"/>
              </a:solidFill>
              <a:latin typeface="Arial"/>
              <a:ea typeface="Arial"/>
              <a:cs typeface="Arial"/>
              <a:sym typeface="Arial"/>
            </a:endParaRPr>
          </a:p>
        </p:txBody>
      </p:sp>
      <p:sp>
        <p:nvSpPr>
          <p:cNvPr id="369" name="Google Shape;369;p35"/>
          <p:cNvSpPr/>
          <p:nvPr/>
        </p:nvSpPr>
        <p:spPr>
          <a:xfrm>
            <a:off x="6795493" y="2011660"/>
            <a:ext cx="4764583" cy="8667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Firebase integration ensures immediate remote actuation with negligible delay, ideal for time-sensitive operations.</a:t>
            </a:r>
            <a:endParaRPr sz="1417" b="0" i="0" u="none" strike="noStrike" cap="none">
              <a:solidFill>
                <a:schemeClr val="dk1"/>
              </a:solidFill>
              <a:latin typeface="Arial"/>
              <a:ea typeface="Arial"/>
              <a:cs typeface="Arial"/>
              <a:sym typeface="Arial"/>
            </a:endParaRPr>
          </a:p>
        </p:txBody>
      </p:sp>
      <p:sp>
        <p:nvSpPr>
          <p:cNvPr id="370" name="Google Shape;370;p35"/>
          <p:cNvSpPr/>
          <p:nvPr/>
        </p:nvSpPr>
        <p:spPr>
          <a:xfrm>
            <a:off x="631924" y="3239492"/>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71" name="Google Shape;371;p35" descr="preencoded.png"/>
          <p:cNvPicPr preferRelativeResize="0"/>
          <p:nvPr/>
        </p:nvPicPr>
        <p:blipFill rotWithShape="1">
          <a:blip r:embed="rId5">
            <a:alphaModFix/>
          </a:blip>
          <a:srcRect/>
          <a:stretch/>
        </p:blipFill>
        <p:spPr>
          <a:xfrm>
            <a:off x="692498" y="3264446"/>
            <a:ext cx="285056" cy="356294"/>
          </a:xfrm>
          <a:prstGeom prst="rect">
            <a:avLst/>
          </a:prstGeom>
          <a:noFill/>
          <a:ln>
            <a:noFill/>
          </a:ln>
        </p:spPr>
      </p:pic>
      <p:sp>
        <p:nvSpPr>
          <p:cNvPr id="372" name="Google Shape;372;p35"/>
          <p:cNvSpPr/>
          <p:nvPr/>
        </p:nvSpPr>
        <p:spPr>
          <a:xfrm>
            <a:off x="1218606" y="3301504"/>
            <a:ext cx="2375594"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Wireless Operation</a:t>
            </a:r>
            <a:endParaRPr sz="1833" b="0" i="0" u="none" strike="noStrike" cap="none">
              <a:solidFill>
                <a:schemeClr val="dk1"/>
              </a:solidFill>
              <a:latin typeface="Arial"/>
              <a:ea typeface="Arial"/>
              <a:cs typeface="Arial"/>
              <a:sym typeface="Arial"/>
            </a:endParaRPr>
          </a:p>
        </p:txBody>
      </p:sp>
      <p:sp>
        <p:nvSpPr>
          <p:cNvPr id="373" name="Google Shape;373;p35"/>
          <p:cNvSpPr/>
          <p:nvPr/>
        </p:nvSpPr>
        <p:spPr>
          <a:xfrm>
            <a:off x="1218605" y="3706614"/>
            <a:ext cx="4764583" cy="8667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Operable from anywhere with internet access, perfect for remote farms and greenhouse management.</a:t>
            </a:r>
            <a:endParaRPr sz="1417" b="0" i="0" u="none" strike="noStrike" cap="none">
              <a:solidFill>
                <a:schemeClr val="dk1"/>
              </a:solidFill>
              <a:latin typeface="Arial"/>
              <a:ea typeface="Arial"/>
              <a:cs typeface="Arial"/>
              <a:sym typeface="Arial"/>
            </a:endParaRPr>
          </a:p>
        </p:txBody>
      </p:sp>
      <p:sp>
        <p:nvSpPr>
          <p:cNvPr id="374" name="Google Shape;374;p35"/>
          <p:cNvSpPr/>
          <p:nvPr/>
        </p:nvSpPr>
        <p:spPr>
          <a:xfrm>
            <a:off x="6208812" y="3239492"/>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75" name="Google Shape;375;p35" descr="preencoded.png"/>
          <p:cNvPicPr preferRelativeResize="0"/>
          <p:nvPr/>
        </p:nvPicPr>
        <p:blipFill rotWithShape="1">
          <a:blip r:embed="rId6">
            <a:alphaModFix/>
          </a:blip>
          <a:srcRect/>
          <a:stretch/>
        </p:blipFill>
        <p:spPr>
          <a:xfrm>
            <a:off x="6269385" y="3264446"/>
            <a:ext cx="285056" cy="356294"/>
          </a:xfrm>
          <a:prstGeom prst="rect">
            <a:avLst/>
          </a:prstGeom>
          <a:noFill/>
          <a:ln>
            <a:noFill/>
          </a:ln>
        </p:spPr>
      </p:pic>
      <p:sp>
        <p:nvSpPr>
          <p:cNvPr id="376" name="Google Shape;376;p35"/>
          <p:cNvSpPr/>
          <p:nvPr/>
        </p:nvSpPr>
        <p:spPr>
          <a:xfrm>
            <a:off x="6795493" y="3301504"/>
            <a:ext cx="2375594"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Scalability</a:t>
            </a:r>
            <a:endParaRPr sz="1833" b="0" i="0" u="none" strike="noStrike" cap="none">
              <a:solidFill>
                <a:schemeClr val="dk1"/>
              </a:solidFill>
              <a:latin typeface="Arial"/>
              <a:ea typeface="Arial"/>
              <a:cs typeface="Arial"/>
              <a:sym typeface="Arial"/>
            </a:endParaRPr>
          </a:p>
        </p:txBody>
      </p:sp>
      <p:sp>
        <p:nvSpPr>
          <p:cNvPr id="377" name="Google Shape;377;p35"/>
          <p:cNvSpPr/>
          <p:nvPr/>
        </p:nvSpPr>
        <p:spPr>
          <a:xfrm>
            <a:off x="6795493" y="3706614"/>
            <a:ext cx="4764583" cy="8667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Modular design allows future integration with soil moisture, temperature, humidity, and rain sensors for condition-based spraying.</a:t>
            </a:r>
            <a:endParaRPr sz="1417" b="0" i="0" u="none" strike="noStrike" cap="none">
              <a:solidFill>
                <a:schemeClr val="dk1"/>
              </a:solidFill>
              <a:latin typeface="Arial"/>
              <a:ea typeface="Arial"/>
              <a:cs typeface="Arial"/>
              <a:sym typeface="Arial"/>
            </a:endParaRPr>
          </a:p>
        </p:txBody>
      </p:sp>
      <p:sp>
        <p:nvSpPr>
          <p:cNvPr id="378" name="Google Shape;378;p35"/>
          <p:cNvSpPr/>
          <p:nvPr/>
        </p:nvSpPr>
        <p:spPr>
          <a:xfrm>
            <a:off x="631924" y="4934446"/>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79" name="Google Shape;379;p35" descr="preencoded.png"/>
          <p:cNvPicPr preferRelativeResize="0"/>
          <p:nvPr/>
        </p:nvPicPr>
        <p:blipFill rotWithShape="1">
          <a:blip r:embed="rId7">
            <a:alphaModFix/>
          </a:blip>
          <a:srcRect/>
          <a:stretch/>
        </p:blipFill>
        <p:spPr>
          <a:xfrm>
            <a:off x="692498" y="4959401"/>
            <a:ext cx="285056" cy="356294"/>
          </a:xfrm>
          <a:prstGeom prst="rect">
            <a:avLst/>
          </a:prstGeom>
          <a:noFill/>
          <a:ln>
            <a:noFill/>
          </a:ln>
        </p:spPr>
      </p:pic>
      <p:sp>
        <p:nvSpPr>
          <p:cNvPr id="380" name="Google Shape;380;p35"/>
          <p:cNvSpPr/>
          <p:nvPr/>
        </p:nvSpPr>
        <p:spPr>
          <a:xfrm>
            <a:off x="1218606" y="4996458"/>
            <a:ext cx="2375594"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Energy Efficiency</a:t>
            </a:r>
            <a:endParaRPr sz="1833" b="0" i="0" u="none" strike="noStrike" cap="none">
              <a:solidFill>
                <a:schemeClr val="dk1"/>
              </a:solidFill>
              <a:latin typeface="Arial"/>
              <a:ea typeface="Arial"/>
              <a:cs typeface="Arial"/>
              <a:sym typeface="Arial"/>
            </a:endParaRPr>
          </a:p>
        </p:txBody>
      </p:sp>
      <p:sp>
        <p:nvSpPr>
          <p:cNvPr id="381" name="Google Shape;381;p35"/>
          <p:cNvSpPr/>
          <p:nvPr/>
        </p:nvSpPr>
        <p:spPr>
          <a:xfrm>
            <a:off x="1218605" y="5401568"/>
            <a:ext cx="4764583" cy="8667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Consumes minimal power in idle states, with potential for solar adaptation, reducing operational costs.</a:t>
            </a:r>
            <a:endParaRPr sz="1417" b="0" i="0" u="none" strike="noStrike" cap="none">
              <a:solidFill>
                <a:schemeClr val="dk1"/>
              </a:solidFill>
              <a:latin typeface="Arial"/>
              <a:ea typeface="Arial"/>
              <a:cs typeface="Arial"/>
              <a:sym typeface="Arial"/>
            </a:endParaRPr>
          </a:p>
        </p:txBody>
      </p:sp>
      <p:sp>
        <p:nvSpPr>
          <p:cNvPr id="382" name="Google Shape;382;p35"/>
          <p:cNvSpPr/>
          <p:nvPr/>
        </p:nvSpPr>
        <p:spPr>
          <a:xfrm>
            <a:off x="6208812" y="4934446"/>
            <a:ext cx="406202" cy="406202"/>
          </a:xfrm>
          <a:prstGeom prst="roundRect">
            <a:avLst>
              <a:gd name="adj" fmla="val 66673"/>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3" name="Google Shape;383;p35" descr="preencoded.png"/>
          <p:cNvPicPr preferRelativeResize="0"/>
          <p:nvPr/>
        </p:nvPicPr>
        <p:blipFill rotWithShape="1">
          <a:blip r:embed="rId8">
            <a:alphaModFix/>
          </a:blip>
          <a:srcRect/>
          <a:stretch/>
        </p:blipFill>
        <p:spPr>
          <a:xfrm>
            <a:off x="6269385" y="4959401"/>
            <a:ext cx="285056" cy="356294"/>
          </a:xfrm>
          <a:prstGeom prst="rect">
            <a:avLst/>
          </a:prstGeom>
          <a:noFill/>
          <a:ln>
            <a:noFill/>
          </a:ln>
        </p:spPr>
      </p:pic>
      <p:sp>
        <p:nvSpPr>
          <p:cNvPr id="384" name="Google Shape;384;p35"/>
          <p:cNvSpPr/>
          <p:nvPr/>
        </p:nvSpPr>
        <p:spPr>
          <a:xfrm>
            <a:off x="6795493" y="4996458"/>
            <a:ext cx="2454176" cy="296863"/>
          </a:xfrm>
          <a:prstGeom prst="rect">
            <a:avLst/>
          </a:prstGeom>
          <a:noFill/>
          <a:ln>
            <a:noFill/>
          </a:ln>
        </p:spPr>
        <p:txBody>
          <a:bodyPr spcFirstLastPara="1" wrap="square" lIns="0" tIns="0" rIns="0" bIns="0" anchor="t" anchorCtr="0">
            <a:noAutofit/>
          </a:bodyPr>
          <a:lstStyle/>
          <a:p>
            <a:pPr marL="0" marR="0" lvl="0" indent="0" algn="l" rtl="0">
              <a:lnSpc>
                <a:spcPct val="127277"/>
              </a:lnSpc>
              <a:spcBef>
                <a:spcPts val="0"/>
              </a:spcBef>
              <a:spcAft>
                <a:spcPts val="0"/>
              </a:spcAft>
              <a:buClr>
                <a:srgbClr val="384653"/>
              </a:buClr>
              <a:buSzPts val="1833"/>
              <a:buFont typeface="Barlow"/>
              <a:buNone/>
            </a:pPr>
            <a:r>
              <a:rPr lang="en-US" sz="1833" b="1" i="0" u="none" strike="noStrike" cap="none">
                <a:solidFill>
                  <a:srgbClr val="384653"/>
                </a:solidFill>
                <a:latin typeface="Barlow"/>
                <a:ea typeface="Barlow"/>
                <a:cs typeface="Barlow"/>
                <a:sym typeface="Barlow"/>
              </a:rPr>
              <a:t>User-Friendly Interface</a:t>
            </a:r>
            <a:endParaRPr sz="1833" b="0" i="0" u="none" strike="noStrike" cap="none">
              <a:solidFill>
                <a:schemeClr val="dk1"/>
              </a:solidFill>
              <a:latin typeface="Arial"/>
              <a:ea typeface="Arial"/>
              <a:cs typeface="Arial"/>
              <a:sym typeface="Arial"/>
            </a:endParaRPr>
          </a:p>
        </p:txBody>
      </p:sp>
      <p:sp>
        <p:nvSpPr>
          <p:cNvPr id="385" name="Google Shape;385;p35"/>
          <p:cNvSpPr/>
          <p:nvPr/>
        </p:nvSpPr>
        <p:spPr>
          <a:xfrm>
            <a:off x="6795493" y="5401568"/>
            <a:ext cx="4764583" cy="866775"/>
          </a:xfrm>
          <a:prstGeom prst="rect">
            <a:avLst/>
          </a:prstGeom>
          <a:noFill/>
          <a:ln>
            <a:noFill/>
          </a:ln>
        </p:spPr>
        <p:txBody>
          <a:bodyPr spcFirstLastPara="1" wrap="square" lIns="0" tIns="0" rIns="0" bIns="0" anchor="t" anchorCtr="0">
            <a:noAutofit/>
          </a:bodyPr>
          <a:lstStyle/>
          <a:p>
            <a:pPr marL="0" marR="0" lvl="0" indent="0" algn="l" rtl="0">
              <a:lnSpc>
                <a:spcPct val="158786"/>
              </a:lnSpc>
              <a:spcBef>
                <a:spcPts val="0"/>
              </a:spcBef>
              <a:spcAft>
                <a:spcPts val="0"/>
              </a:spcAft>
              <a:buClr>
                <a:srgbClr val="384653"/>
              </a:buClr>
              <a:buSzPts val="1417"/>
              <a:buFont typeface="Montserrat"/>
              <a:buNone/>
            </a:pPr>
            <a:r>
              <a:rPr lang="en-US" sz="1417" b="0" i="0" u="none" strike="noStrike" cap="none">
                <a:solidFill>
                  <a:srgbClr val="384653"/>
                </a:solidFill>
                <a:latin typeface="Montserrat"/>
                <a:ea typeface="Montserrat"/>
                <a:cs typeface="Montserrat"/>
                <a:sym typeface="Montserrat"/>
              </a:rPr>
              <a:t>Intuitive mobile app requires no technical expertise, displaying connectivity status, control buttons, and real-time feedback.</a:t>
            </a:r>
            <a:endParaRPr sz="1417" b="0" i="0" u="none" strike="noStrike" cap="none">
              <a:solidFill>
                <a:schemeClr val="dk1"/>
              </a:solidFill>
              <a:latin typeface="Arial"/>
              <a:ea typeface="Arial"/>
              <a:cs typeface="Arial"/>
              <a:sym typeface="Arial"/>
            </a:endParaRPr>
          </a:p>
        </p:txBody>
      </p:sp>
      <p:pic>
        <p:nvPicPr>
          <p:cNvPr id="386" name="Google Shape;386;p35" descr="A white background with black dots&#10;&#10;AI-generated content may be incorrect."/>
          <p:cNvPicPr preferRelativeResize="0"/>
          <p:nvPr/>
        </p:nvPicPr>
        <p:blipFill rotWithShape="1">
          <a:blip r:embed="rId9">
            <a:alphaModFix/>
          </a:blip>
          <a:srcRect/>
          <a:stretch/>
        </p:blipFill>
        <p:spPr>
          <a:xfrm>
            <a:off x="9886950" y="6283699"/>
            <a:ext cx="2301689" cy="57710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6"/>
          <p:cNvSpPr/>
          <p:nvPr/>
        </p:nvSpPr>
        <p:spPr>
          <a:xfrm>
            <a:off x="580827" y="457299"/>
            <a:ext cx="5711627" cy="545902"/>
          </a:xfrm>
          <a:prstGeom prst="rect">
            <a:avLst/>
          </a:prstGeom>
          <a:noFill/>
          <a:ln>
            <a:noFill/>
          </a:ln>
        </p:spPr>
        <p:txBody>
          <a:bodyPr spcFirstLastPara="1" wrap="square" lIns="0" tIns="0" rIns="0" bIns="0" anchor="t" anchorCtr="0">
            <a:noAutofit/>
          </a:bodyPr>
          <a:lstStyle/>
          <a:p>
            <a:pPr marL="0" marR="0" lvl="0" indent="0" algn="l" rtl="0">
              <a:lnSpc>
                <a:spcPct val="125614"/>
              </a:lnSpc>
              <a:spcBef>
                <a:spcPts val="0"/>
              </a:spcBef>
              <a:spcAft>
                <a:spcPts val="0"/>
              </a:spcAft>
              <a:buClr>
                <a:srgbClr val="2E3C4E"/>
              </a:buClr>
              <a:buSzPts val="3416"/>
              <a:buFont typeface="Barlow"/>
              <a:buNone/>
            </a:pPr>
            <a:r>
              <a:rPr lang="en-US" sz="3416" b="1" i="0" u="none" strike="noStrike" cap="none">
                <a:solidFill>
                  <a:srgbClr val="2E3C4E"/>
                </a:solidFill>
                <a:latin typeface="Barlow"/>
                <a:ea typeface="Barlow"/>
                <a:cs typeface="Barlow"/>
                <a:sym typeface="Barlow"/>
              </a:rPr>
              <a:t>Challenges in Implementation</a:t>
            </a:r>
            <a:endParaRPr sz="3416" b="0" i="0" u="none" strike="noStrike" cap="none">
              <a:solidFill>
                <a:schemeClr val="dk1"/>
              </a:solidFill>
              <a:latin typeface="Arial"/>
              <a:ea typeface="Arial"/>
              <a:cs typeface="Arial"/>
              <a:sym typeface="Arial"/>
            </a:endParaRPr>
          </a:p>
        </p:txBody>
      </p:sp>
      <p:pic>
        <p:nvPicPr>
          <p:cNvPr id="393" name="Google Shape;393;p36" descr="preencoded.png"/>
          <p:cNvPicPr preferRelativeResize="0"/>
          <p:nvPr/>
        </p:nvPicPr>
        <p:blipFill rotWithShape="1">
          <a:blip r:embed="rId3">
            <a:alphaModFix/>
          </a:blip>
          <a:srcRect/>
          <a:stretch/>
        </p:blipFill>
        <p:spPr>
          <a:xfrm>
            <a:off x="2655888" y="1335088"/>
            <a:ext cx="1364953" cy="1235273"/>
          </a:xfrm>
          <a:prstGeom prst="rect">
            <a:avLst/>
          </a:prstGeom>
          <a:noFill/>
          <a:ln>
            <a:noFill/>
          </a:ln>
        </p:spPr>
      </p:pic>
      <p:pic>
        <p:nvPicPr>
          <p:cNvPr id="394" name="Google Shape;394;p36" descr="preencoded.png"/>
          <p:cNvPicPr preferRelativeResize="0"/>
          <p:nvPr/>
        </p:nvPicPr>
        <p:blipFill rotWithShape="1">
          <a:blip r:embed="rId4">
            <a:alphaModFix/>
          </a:blip>
          <a:srcRect/>
          <a:stretch/>
        </p:blipFill>
        <p:spPr>
          <a:xfrm>
            <a:off x="3221633" y="1967210"/>
            <a:ext cx="233363" cy="291703"/>
          </a:xfrm>
          <a:prstGeom prst="rect">
            <a:avLst/>
          </a:prstGeom>
          <a:noFill/>
          <a:ln>
            <a:noFill/>
          </a:ln>
        </p:spPr>
      </p:pic>
      <p:sp>
        <p:nvSpPr>
          <p:cNvPr id="395" name="Google Shape;395;p36"/>
          <p:cNvSpPr/>
          <p:nvPr/>
        </p:nvSpPr>
        <p:spPr>
          <a:xfrm>
            <a:off x="4186733" y="1633736"/>
            <a:ext cx="2183507" cy="272951"/>
          </a:xfrm>
          <a:prstGeom prst="rect">
            <a:avLst/>
          </a:prstGeom>
          <a:noFill/>
          <a:ln>
            <a:noFill/>
          </a:ln>
        </p:spPr>
        <p:txBody>
          <a:bodyPr spcFirstLastPara="1" wrap="square" lIns="0" tIns="0" rIns="0" bIns="0" anchor="t" anchorCtr="0">
            <a:noAutofit/>
          </a:bodyPr>
          <a:lstStyle/>
          <a:p>
            <a:pPr marL="0" marR="0" lvl="0" indent="0" algn="l" rtl="0">
              <a:lnSpc>
                <a:spcPct val="124414"/>
              </a:lnSpc>
              <a:spcBef>
                <a:spcPts val="0"/>
              </a:spcBef>
              <a:spcAft>
                <a:spcPts val="0"/>
              </a:spcAft>
              <a:buClr>
                <a:srgbClr val="384653"/>
              </a:buClr>
              <a:buSzPts val="1708"/>
              <a:buFont typeface="Barlow"/>
              <a:buNone/>
            </a:pPr>
            <a:r>
              <a:rPr lang="en-US" sz="1708" b="1" i="0" u="none" strike="noStrike" cap="none">
                <a:solidFill>
                  <a:srgbClr val="384653"/>
                </a:solidFill>
                <a:latin typeface="Barlow"/>
                <a:ea typeface="Barlow"/>
                <a:cs typeface="Barlow"/>
                <a:sym typeface="Barlow"/>
              </a:rPr>
              <a:t>Wi-Fi Connectivity</a:t>
            </a:r>
            <a:endParaRPr sz="1708" b="0" i="0" u="none" strike="noStrike" cap="none">
              <a:solidFill>
                <a:schemeClr val="dk1"/>
              </a:solidFill>
              <a:latin typeface="Arial"/>
              <a:ea typeface="Arial"/>
              <a:cs typeface="Arial"/>
              <a:sym typeface="Arial"/>
            </a:endParaRPr>
          </a:p>
        </p:txBody>
      </p:sp>
      <p:sp>
        <p:nvSpPr>
          <p:cNvPr id="396" name="Google Shape;396;p36"/>
          <p:cNvSpPr/>
          <p:nvPr/>
        </p:nvSpPr>
        <p:spPr>
          <a:xfrm>
            <a:off x="4186734" y="2006204"/>
            <a:ext cx="7123708" cy="265509"/>
          </a:xfrm>
          <a:prstGeom prst="rect">
            <a:avLst/>
          </a:prstGeom>
          <a:noFill/>
          <a:ln>
            <a:noFill/>
          </a:ln>
        </p:spPr>
        <p:txBody>
          <a:bodyPr spcFirstLastPara="1" wrap="square" lIns="0" tIns="0" rIns="0" bIns="0" anchor="t" anchorCtr="0">
            <a:noAutofit/>
          </a:bodyPr>
          <a:lstStyle/>
          <a:p>
            <a:pPr marL="0" marR="0" lvl="0" indent="0" algn="l" rtl="0">
              <a:lnSpc>
                <a:spcPct val="161222"/>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Ensuring stable internet access in rural agricultural fields for Firebase communication.</a:t>
            </a:r>
            <a:endParaRPr sz="1292" b="0" i="0" u="none" strike="noStrike" cap="none">
              <a:solidFill>
                <a:schemeClr val="dk1"/>
              </a:solidFill>
              <a:latin typeface="Arial"/>
              <a:ea typeface="Arial"/>
              <a:cs typeface="Arial"/>
              <a:sym typeface="Arial"/>
            </a:endParaRPr>
          </a:p>
        </p:txBody>
      </p:sp>
      <p:sp>
        <p:nvSpPr>
          <p:cNvPr id="397" name="Google Shape;397;p36"/>
          <p:cNvSpPr/>
          <p:nvPr/>
        </p:nvSpPr>
        <p:spPr>
          <a:xfrm>
            <a:off x="4062313" y="2583160"/>
            <a:ext cx="7507387" cy="9525"/>
          </a:xfrm>
          <a:prstGeom prst="roundRect">
            <a:avLst>
              <a:gd name="adj" fmla="val 2613448"/>
            </a:avLst>
          </a:prstGeom>
          <a:solidFill>
            <a:srgbClr val="BACF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8" name="Google Shape;398;p36" descr="preencoded.png"/>
          <p:cNvPicPr preferRelativeResize="0"/>
          <p:nvPr/>
        </p:nvPicPr>
        <p:blipFill rotWithShape="1">
          <a:blip r:embed="rId5">
            <a:alphaModFix/>
          </a:blip>
          <a:srcRect/>
          <a:stretch/>
        </p:blipFill>
        <p:spPr>
          <a:xfrm>
            <a:off x="1973362" y="2611834"/>
            <a:ext cx="2730004" cy="1235273"/>
          </a:xfrm>
          <a:prstGeom prst="rect">
            <a:avLst/>
          </a:prstGeom>
          <a:noFill/>
          <a:ln>
            <a:noFill/>
          </a:ln>
        </p:spPr>
      </p:pic>
      <p:pic>
        <p:nvPicPr>
          <p:cNvPr id="399" name="Google Shape;399;p36" descr="preencoded.png"/>
          <p:cNvPicPr preferRelativeResize="0"/>
          <p:nvPr/>
        </p:nvPicPr>
        <p:blipFill rotWithShape="1">
          <a:blip r:embed="rId6">
            <a:alphaModFix/>
          </a:blip>
          <a:srcRect/>
          <a:stretch/>
        </p:blipFill>
        <p:spPr>
          <a:xfrm>
            <a:off x="3221633" y="3083619"/>
            <a:ext cx="233363" cy="291703"/>
          </a:xfrm>
          <a:prstGeom prst="rect">
            <a:avLst/>
          </a:prstGeom>
          <a:noFill/>
          <a:ln>
            <a:noFill/>
          </a:ln>
        </p:spPr>
      </p:pic>
      <p:sp>
        <p:nvSpPr>
          <p:cNvPr id="400" name="Google Shape;400;p36"/>
          <p:cNvSpPr/>
          <p:nvPr/>
        </p:nvSpPr>
        <p:spPr>
          <a:xfrm>
            <a:off x="4869259" y="2777729"/>
            <a:ext cx="2183507" cy="272951"/>
          </a:xfrm>
          <a:prstGeom prst="rect">
            <a:avLst/>
          </a:prstGeom>
          <a:noFill/>
          <a:ln>
            <a:noFill/>
          </a:ln>
        </p:spPr>
        <p:txBody>
          <a:bodyPr spcFirstLastPara="1" wrap="square" lIns="0" tIns="0" rIns="0" bIns="0" anchor="t" anchorCtr="0">
            <a:noAutofit/>
          </a:bodyPr>
          <a:lstStyle/>
          <a:p>
            <a:pPr marL="0" marR="0" lvl="0" indent="0" algn="l" rtl="0">
              <a:lnSpc>
                <a:spcPct val="124414"/>
              </a:lnSpc>
              <a:spcBef>
                <a:spcPts val="0"/>
              </a:spcBef>
              <a:spcAft>
                <a:spcPts val="0"/>
              </a:spcAft>
              <a:buClr>
                <a:srgbClr val="384653"/>
              </a:buClr>
              <a:buSzPts val="1708"/>
              <a:buFont typeface="Barlow"/>
              <a:buNone/>
            </a:pPr>
            <a:r>
              <a:rPr lang="en-US" sz="1708" b="1" i="0" u="none" strike="noStrike" cap="none">
                <a:solidFill>
                  <a:srgbClr val="384653"/>
                </a:solidFill>
                <a:latin typeface="Barlow"/>
                <a:ea typeface="Barlow"/>
                <a:cs typeface="Barlow"/>
                <a:sym typeface="Barlow"/>
              </a:rPr>
              <a:t>Limited Memory</a:t>
            </a:r>
            <a:endParaRPr sz="1708" b="0" i="0" u="none" strike="noStrike" cap="none">
              <a:solidFill>
                <a:schemeClr val="dk1"/>
              </a:solidFill>
              <a:latin typeface="Arial"/>
              <a:ea typeface="Arial"/>
              <a:cs typeface="Arial"/>
              <a:sym typeface="Arial"/>
            </a:endParaRPr>
          </a:p>
        </p:txBody>
      </p:sp>
      <p:sp>
        <p:nvSpPr>
          <p:cNvPr id="401" name="Google Shape;401;p36"/>
          <p:cNvSpPr/>
          <p:nvPr/>
        </p:nvSpPr>
        <p:spPr>
          <a:xfrm>
            <a:off x="4869259" y="3150196"/>
            <a:ext cx="6576020" cy="531019"/>
          </a:xfrm>
          <a:prstGeom prst="rect">
            <a:avLst/>
          </a:prstGeom>
          <a:noFill/>
          <a:ln>
            <a:noFill/>
          </a:ln>
        </p:spPr>
        <p:txBody>
          <a:bodyPr spcFirstLastPara="1" wrap="square" lIns="0" tIns="0" rIns="0" bIns="0" anchor="t" anchorCtr="0">
            <a:noAutofit/>
          </a:bodyPr>
          <a:lstStyle/>
          <a:p>
            <a:pPr marL="0" marR="0" lvl="0" indent="0" algn="l" rtl="0">
              <a:lnSpc>
                <a:spcPct val="161222"/>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ESP-01's constrained memory requires careful optimisation for memory-intensive operations.</a:t>
            </a:r>
            <a:endParaRPr sz="1292" b="0" i="0" u="none" strike="noStrike" cap="none">
              <a:solidFill>
                <a:schemeClr val="dk1"/>
              </a:solidFill>
              <a:latin typeface="Arial"/>
              <a:ea typeface="Arial"/>
              <a:cs typeface="Arial"/>
              <a:sym typeface="Arial"/>
            </a:endParaRPr>
          </a:p>
        </p:txBody>
      </p:sp>
      <p:sp>
        <p:nvSpPr>
          <p:cNvPr id="402" name="Google Shape;402;p36"/>
          <p:cNvSpPr/>
          <p:nvPr/>
        </p:nvSpPr>
        <p:spPr>
          <a:xfrm>
            <a:off x="4744840" y="3859907"/>
            <a:ext cx="6824861" cy="9525"/>
          </a:xfrm>
          <a:prstGeom prst="roundRect">
            <a:avLst>
              <a:gd name="adj" fmla="val 2613448"/>
            </a:avLst>
          </a:prstGeom>
          <a:solidFill>
            <a:srgbClr val="BACF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03" name="Google Shape;403;p36" descr="preencoded.png"/>
          <p:cNvPicPr preferRelativeResize="0"/>
          <p:nvPr/>
        </p:nvPicPr>
        <p:blipFill rotWithShape="1">
          <a:blip r:embed="rId7">
            <a:alphaModFix/>
          </a:blip>
          <a:srcRect/>
          <a:stretch/>
        </p:blipFill>
        <p:spPr>
          <a:xfrm>
            <a:off x="1290836" y="3888581"/>
            <a:ext cx="4094957" cy="1235273"/>
          </a:xfrm>
          <a:prstGeom prst="rect">
            <a:avLst/>
          </a:prstGeom>
          <a:noFill/>
          <a:ln>
            <a:noFill/>
          </a:ln>
        </p:spPr>
      </p:pic>
      <p:pic>
        <p:nvPicPr>
          <p:cNvPr id="404" name="Google Shape;404;p36" descr="preencoded.png"/>
          <p:cNvPicPr preferRelativeResize="0"/>
          <p:nvPr/>
        </p:nvPicPr>
        <p:blipFill rotWithShape="1">
          <a:blip r:embed="rId8">
            <a:alphaModFix/>
          </a:blip>
          <a:srcRect/>
          <a:stretch/>
        </p:blipFill>
        <p:spPr>
          <a:xfrm>
            <a:off x="3221633" y="4360367"/>
            <a:ext cx="233363" cy="291703"/>
          </a:xfrm>
          <a:prstGeom prst="rect">
            <a:avLst/>
          </a:prstGeom>
          <a:noFill/>
          <a:ln>
            <a:noFill/>
          </a:ln>
        </p:spPr>
      </p:pic>
      <p:sp>
        <p:nvSpPr>
          <p:cNvPr id="405" name="Google Shape;405;p36"/>
          <p:cNvSpPr/>
          <p:nvPr/>
        </p:nvSpPr>
        <p:spPr>
          <a:xfrm>
            <a:off x="5551686" y="4054475"/>
            <a:ext cx="2183507" cy="272951"/>
          </a:xfrm>
          <a:prstGeom prst="rect">
            <a:avLst/>
          </a:prstGeom>
          <a:noFill/>
          <a:ln>
            <a:noFill/>
          </a:ln>
        </p:spPr>
        <p:txBody>
          <a:bodyPr spcFirstLastPara="1" wrap="square" lIns="0" tIns="0" rIns="0" bIns="0" anchor="t" anchorCtr="0">
            <a:noAutofit/>
          </a:bodyPr>
          <a:lstStyle/>
          <a:p>
            <a:pPr marL="0" marR="0" lvl="0" indent="0" algn="l" rtl="0">
              <a:lnSpc>
                <a:spcPct val="124414"/>
              </a:lnSpc>
              <a:spcBef>
                <a:spcPts val="0"/>
              </a:spcBef>
              <a:spcAft>
                <a:spcPts val="0"/>
              </a:spcAft>
              <a:buClr>
                <a:srgbClr val="384653"/>
              </a:buClr>
              <a:buSzPts val="1708"/>
              <a:buFont typeface="Barlow"/>
              <a:buNone/>
            </a:pPr>
            <a:r>
              <a:rPr lang="en-US" sz="1708" b="1" i="0" u="none" strike="noStrike" cap="none">
                <a:solidFill>
                  <a:srgbClr val="384653"/>
                </a:solidFill>
                <a:latin typeface="Barlow"/>
                <a:ea typeface="Barlow"/>
                <a:cs typeface="Barlow"/>
                <a:sym typeface="Barlow"/>
              </a:rPr>
              <a:t>Power Stability</a:t>
            </a:r>
            <a:endParaRPr sz="1708" b="0" i="0" u="none" strike="noStrike" cap="none">
              <a:solidFill>
                <a:schemeClr val="dk1"/>
              </a:solidFill>
              <a:latin typeface="Arial"/>
              <a:ea typeface="Arial"/>
              <a:cs typeface="Arial"/>
              <a:sym typeface="Arial"/>
            </a:endParaRPr>
          </a:p>
        </p:txBody>
      </p:sp>
      <p:sp>
        <p:nvSpPr>
          <p:cNvPr id="406" name="Google Shape;406;p36"/>
          <p:cNvSpPr/>
          <p:nvPr/>
        </p:nvSpPr>
        <p:spPr>
          <a:xfrm>
            <a:off x="5551686" y="4426943"/>
            <a:ext cx="5893594" cy="531019"/>
          </a:xfrm>
          <a:prstGeom prst="rect">
            <a:avLst/>
          </a:prstGeom>
          <a:noFill/>
          <a:ln>
            <a:noFill/>
          </a:ln>
        </p:spPr>
        <p:txBody>
          <a:bodyPr spcFirstLastPara="1" wrap="square" lIns="0" tIns="0" rIns="0" bIns="0" anchor="t" anchorCtr="0">
            <a:noAutofit/>
          </a:bodyPr>
          <a:lstStyle/>
          <a:p>
            <a:pPr marL="0" marR="0" lvl="0" indent="0" algn="l" rtl="0">
              <a:lnSpc>
                <a:spcPct val="161222"/>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Inconsistent power in rural areas necessitates voltage regulators to prevent resets or failures.</a:t>
            </a:r>
            <a:endParaRPr sz="1292" b="0" i="0" u="none" strike="noStrike" cap="none">
              <a:solidFill>
                <a:schemeClr val="dk1"/>
              </a:solidFill>
              <a:latin typeface="Arial"/>
              <a:ea typeface="Arial"/>
              <a:cs typeface="Arial"/>
              <a:sym typeface="Arial"/>
            </a:endParaRPr>
          </a:p>
        </p:txBody>
      </p:sp>
      <p:sp>
        <p:nvSpPr>
          <p:cNvPr id="407" name="Google Shape;407;p36"/>
          <p:cNvSpPr/>
          <p:nvPr/>
        </p:nvSpPr>
        <p:spPr>
          <a:xfrm>
            <a:off x="5427266" y="5136654"/>
            <a:ext cx="6142434" cy="9525"/>
          </a:xfrm>
          <a:prstGeom prst="roundRect">
            <a:avLst>
              <a:gd name="adj" fmla="val 2613448"/>
            </a:avLst>
          </a:prstGeom>
          <a:solidFill>
            <a:srgbClr val="BACF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08" name="Google Shape;408;p36" descr="preencoded.png"/>
          <p:cNvPicPr preferRelativeResize="0"/>
          <p:nvPr/>
        </p:nvPicPr>
        <p:blipFill rotWithShape="1">
          <a:blip r:embed="rId9">
            <a:alphaModFix/>
          </a:blip>
          <a:srcRect/>
          <a:stretch/>
        </p:blipFill>
        <p:spPr>
          <a:xfrm>
            <a:off x="608310" y="5165329"/>
            <a:ext cx="5460008" cy="1235273"/>
          </a:xfrm>
          <a:prstGeom prst="rect">
            <a:avLst/>
          </a:prstGeom>
          <a:noFill/>
          <a:ln>
            <a:noFill/>
          </a:ln>
        </p:spPr>
      </p:pic>
      <p:pic>
        <p:nvPicPr>
          <p:cNvPr id="409" name="Google Shape;409;p36" descr="preencoded.png"/>
          <p:cNvPicPr preferRelativeResize="0"/>
          <p:nvPr/>
        </p:nvPicPr>
        <p:blipFill rotWithShape="1">
          <a:blip r:embed="rId10">
            <a:alphaModFix/>
          </a:blip>
          <a:srcRect/>
          <a:stretch/>
        </p:blipFill>
        <p:spPr>
          <a:xfrm>
            <a:off x="3221534" y="5637114"/>
            <a:ext cx="233363" cy="291703"/>
          </a:xfrm>
          <a:prstGeom prst="rect">
            <a:avLst/>
          </a:prstGeom>
          <a:noFill/>
          <a:ln>
            <a:noFill/>
          </a:ln>
        </p:spPr>
      </p:pic>
      <p:sp>
        <p:nvSpPr>
          <p:cNvPr id="410" name="Google Shape;410;p36"/>
          <p:cNvSpPr/>
          <p:nvPr/>
        </p:nvSpPr>
        <p:spPr>
          <a:xfrm>
            <a:off x="6234212" y="5331222"/>
            <a:ext cx="2183507" cy="272951"/>
          </a:xfrm>
          <a:prstGeom prst="rect">
            <a:avLst/>
          </a:prstGeom>
          <a:noFill/>
          <a:ln>
            <a:noFill/>
          </a:ln>
        </p:spPr>
        <p:txBody>
          <a:bodyPr spcFirstLastPara="1" wrap="square" lIns="0" tIns="0" rIns="0" bIns="0" anchor="t" anchorCtr="0">
            <a:noAutofit/>
          </a:bodyPr>
          <a:lstStyle/>
          <a:p>
            <a:pPr marL="0" marR="0" lvl="0" indent="0" algn="l" rtl="0">
              <a:lnSpc>
                <a:spcPct val="124414"/>
              </a:lnSpc>
              <a:spcBef>
                <a:spcPts val="0"/>
              </a:spcBef>
              <a:spcAft>
                <a:spcPts val="0"/>
              </a:spcAft>
              <a:buClr>
                <a:srgbClr val="384653"/>
              </a:buClr>
              <a:buSzPts val="1708"/>
              <a:buFont typeface="Barlow"/>
              <a:buNone/>
            </a:pPr>
            <a:r>
              <a:rPr lang="en-US" sz="1708" b="1" i="0" u="none" strike="noStrike" cap="none">
                <a:solidFill>
                  <a:srgbClr val="384653"/>
                </a:solidFill>
                <a:latin typeface="Barlow"/>
                <a:ea typeface="Barlow"/>
                <a:cs typeface="Barlow"/>
                <a:sym typeface="Barlow"/>
              </a:rPr>
              <a:t>Cloud Dependency</a:t>
            </a:r>
            <a:endParaRPr sz="1708" b="0" i="0" u="none" strike="noStrike" cap="none">
              <a:solidFill>
                <a:schemeClr val="dk1"/>
              </a:solidFill>
              <a:latin typeface="Arial"/>
              <a:ea typeface="Arial"/>
              <a:cs typeface="Arial"/>
              <a:sym typeface="Arial"/>
            </a:endParaRPr>
          </a:p>
        </p:txBody>
      </p:sp>
      <p:sp>
        <p:nvSpPr>
          <p:cNvPr id="411" name="Google Shape;411;p36"/>
          <p:cNvSpPr/>
          <p:nvPr/>
        </p:nvSpPr>
        <p:spPr>
          <a:xfrm>
            <a:off x="6234212" y="5703690"/>
            <a:ext cx="5211068" cy="531019"/>
          </a:xfrm>
          <a:prstGeom prst="rect">
            <a:avLst/>
          </a:prstGeom>
          <a:noFill/>
          <a:ln>
            <a:noFill/>
          </a:ln>
        </p:spPr>
        <p:txBody>
          <a:bodyPr spcFirstLastPara="1" wrap="square" lIns="0" tIns="0" rIns="0" bIns="0" anchor="t" anchorCtr="0">
            <a:noAutofit/>
          </a:bodyPr>
          <a:lstStyle/>
          <a:p>
            <a:pPr marL="0" marR="0" lvl="0" indent="0" algn="l" rtl="0">
              <a:lnSpc>
                <a:spcPct val="161222"/>
              </a:lnSpc>
              <a:spcBef>
                <a:spcPts val="0"/>
              </a:spcBef>
              <a:spcAft>
                <a:spcPts val="0"/>
              </a:spcAft>
              <a:buClr>
                <a:srgbClr val="384653"/>
              </a:buClr>
              <a:buSzPts val="1292"/>
              <a:buFont typeface="Montserrat"/>
              <a:buNone/>
            </a:pPr>
            <a:r>
              <a:rPr lang="en-US" sz="1292" b="0" i="0" u="none" strike="noStrike" cap="none">
                <a:solidFill>
                  <a:srgbClr val="384653"/>
                </a:solidFill>
                <a:latin typeface="Montserrat"/>
                <a:ea typeface="Montserrat"/>
                <a:cs typeface="Montserrat"/>
                <a:sym typeface="Montserrat"/>
              </a:rPr>
              <a:t>System relies solely on internet availability, making it inoperative during connectivity loss.</a:t>
            </a:r>
            <a:endParaRPr sz="1292" b="0" i="0" u="none" strike="noStrike" cap="none">
              <a:solidFill>
                <a:schemeClr val="dk1"/>
              </a:solidFill>
              <a:latin typeface="Arial"/>
              <a:ea typeface="Arial"/>
              <a:cs typeface="Arial"/>
              <a:sym typeface="Arial"/>
            </a:endParaRPr>
          </a:p>
        </p:txBody>
      </p:sp>
      <p:pic>
        <p:nvPicPr>
          <p:cNvPr id="412" name="Google Shape;412;p36" descr="A white background with black dots&#10;&#10;AI-generated content may be incorrect."/>
          <p:cNvPicPr preferRelativeResize="0"/>
          <p:nvPr/>
        </p:nvPicPr>
        <p:blipFill rotWithShape="1">
          <a:blip r:embed="rId11">
            <a:alphaModFix/>
          </a:blip>
          <a:srcRect/>
          <a:stretch/>
        </p:blipFill>
        <p:spPr>
          <a:xfrm>
            <a:off x="9886950" y="6283699"/>
            <a:ext cx="2301689" cy="57710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7"/>
          <p:cNvSpPr/>
          <p:nvPr/>
        </p:nvSpPr>
        <p:spPr>
          <a:xfrm>
            <a:off x="558304" y="820143"/>
            <a:ext cx="6118523" cy="524669"/>
          </a:xfrm>
          <a:prstGeom prst="rect">
            <a:avLst/>
          </a:prstGeom>
          <a:noFill/>
          <a:ln>
            <a:noFill/>
          </a:ln>
        </p:spPr>
        <p:txBody>
          <a:bodyPr spcFirstLastPara="1" wrap="square" lIns="0" tIns="0" rIns="0" bIns="0" anchor="t" anchorCtr="0">
            <a:noAutofit/>
          </a:bodyPr>
          <a:lstStyle/>
          <a:p>
            <a:pPr marL="0" marR="0" lvl="0" indent="0" algn="l" rtl="0">
              <a:lnSpc>
                <a:spcPct val="125341"/>
              </a:lnSpc>
              <a:spcBef>
                <a:spcPts val="0"/>
              </a:spcBef>
              <a:spcAft>
                <a:spcPts val="0"/>
              </a:spcAft>
              <a:buClr>
                <a:srgbClr val="2E3C4E"/>
              </a:buClr>
              <a:buSzPts val="3291"/>
              <a:buFont typeface="Barlow"/>
              <a:buNone/>
            </a:pPr>
            <a:r>
              <a:rPr lang="en-US" sz="3291" b="1" i="0" u="none" strike="noStrike" cap="none">
                <a:solidFill>
                  <a:srgbClr val="2E3C4E"/>
                </a:solidFill>
                <a:latin typeface="Barlow"/>
                <a:ea typeface="Barlow"/>
                <a:cs typeface="Barlow"/>
                <a:sym typeface="Barlow"/>
              </a:rPr>
              <a:t>Future Scope and Enhancements</a:t>
            </a:r>
            <a:endParaRPr sz="3291" b="0" i="0" u="none" strike="noStrike" cap="none">
              <a:solidFill>
                <a:schemeClr val="dk1"/>
              </a:solidFill>
              <a:latin typeface="Arial"/>
              <a:ea typeface="Arial"/>
              <a:cs typeface="Arial"/>
              <a:sym typeface="Arial"/>
            </a:endParaRPr>
          </a:p>
        </p:txBody>
      </p:sp>
      <p:sp>
        <p:nvSpPr>
          <p:cNvPr id="419" name="Google Shape;419;p37"/>
          <p:cNvSpPr/>
          <p:nvPr/>
        </p:nvSpPr>
        <p:spPr>
          <a:xfrm>
            <a:off x="558304" y="1663800"/>
            <a:ext cx="119558" cy="613271"/>
          </a:xfrm>
          <a:prstGeom prst="roundRect">
            <a:avLst>
              <a:gd name="adj" fmla="val 200155"/>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p37"/>
          <p:cNvSpPr/>
          <p:nvPr/>
        </p:nvSpPr>
        <p:spPr>
          <a:xfrm>
            <a:off x="917079" y="1663799"/>
            <a:ext cx="2099072" cy="262433"/>
          </a:xfrm>
          <a:prstGeom prst="rect">
            <a:avLst/>
          </a:prstGeom>
          <a:noFill/>
          <a:ln>
            <a:noFill/>
          </a:ln>
        </p:spPr>
        <p:txBody>
          <a:bodyPr spcFirstLastPara="1" wrap="square" lIns="0" tIns="0" rIns="0" bIns="0" anchor="t" anchorCtr="0">
            <a:noAutofit/>
          </a:bodyPr>
          <a:lstStyle/>
          <a:p>
            <a:pPr marL="0" marR="0" lvl="0" indent="0" algn="l" rtl="0">
              <a:lnSpc>
                <a:spcPct val="125661"/>
              </a:lnSpc>
              <a:spcBef>
                <a:spcPts val="0"/>
              </a:spcBef>
              <a:spcAft>
                <a:spcPts val="0"/>
              </a:spcAft>
              <a:buClr>
                <a:srgbClr val="384653"/>
              </a:buClr>
              <a:buSzPts val="1625"/>
              <a:buFont typeface="Barlow"/>
              <a:buNone/>
            </a:pPr>
            <a:r>
              <a:rPr lang="en-US" sz="1625" b="1" i="0" u="none" strike="noStrike" cap="none">
                <a:solidFill>
                  <a:srgbClr val="384653"/>
                </a:solidFill>
                <a:latin typeface="Barlow"/>
                <a:ea typeface="Barlow"/>
                <a:cs typeface="Barlow"/>
                <a:sym typeface="Barlow"/>
              </a:rPr>
              <a:t>Sensor Integration</a:t>
            </a:r>
            <a:endParaRPr sz="1625" b="0" i="0" u="none" strike="noStrike" cap="none">
              <a:solidFill>
                <a:schemeClr val="dk1"/>
              </a:solidFill>
              <a:latin typeface="Arial"/>
              <a:ea typeface="Arial"/>
              <a:cs typeface="Arial"/>
              <a:sym typeface="Arial"/>
            </a:endParaRPr>
          </a:p>
        </p:txBody>
      </p:sp>
      <p:sp>
        <p:nvSpPr>
          <p:cNvPr id="421" name="Google Shape;421;p37"/>
          <p:cNvSpPr/>
          <p:nvPr/>
        </p:nvSpPr>
        <p:spPr>
          <a:xfrm>
            <a:off x="917079" y="2021880"/>
            <a:ext cx="10716618" cy="255191"/>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384653"/>
              </a:buClr>
              <a:buSzPts val="1250"/>
              <a:buFont typeface="Montserrat"/>
              <a:buNone/>
            </a:pPr>
            <a:r>
              <a:rPr lang="en-US" sz="1250" b="0" i="0" u="none" strike="noStrike" cap="none">
                <a:solidFill>
                  <a:srgbClr val="384653"/>
                </a:solidFill>
                <a:latin typeface="Montserrat"/>
                <a:ea typeface="Montserrat"/>
                <a:cs typeface="Montserrat"/>
                <a:sym typeface="Montserrat"/>
              </a:rPr>
              <a:t>Adding soil moisture, temperature, and humidity sensors for automatic, condition-based spraying, optimising water conservation.</a:t>
            </a:r>
            <a:endParaRPr sz="1250" b="0" i="0" u="none" strike="noStrike" cap="none">
              <a:solidFill>
                <a:schemeClr val="dk1"/>
              </a:solidFill>
              <a:latin typeface="Arial"/>
              <a:ea typeface="Arial"/>
              <a:cs typeface="Arial"/>
              <a:sym typeface="Arial"/>
            </a:endParaRPr>
          </a:p>
        </p:txBody>
      </p:sp>
      <p:sp>
        <p:nvSpPr>
          <p:cNvPr id="422" name="Google Shape;422;p37"/>
          <p:cNvSpPr/>
          <p:nvPr/>
        </p:nvSpPr>
        <p:spPr>
          <a:xfrm>
            <a:off x="797520" y="2436515"/>
            <a:ext cx="119558" cy="613271"/>
          </a:xfrm>
          <a:prstGeom prst="roundRect">
            <a:avLst>
              <a:gd name="adj" fmla="val 200155"/>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37"/>
          <p:cNvSpPr/>
          <p:nvPr/>
        </p:nvSpPr>
        <p:spPr>
          <a:xfrm>
            <a:off x="1156295" y="2436515"/>
            <a:ext cx="2219226" cy="262433"/>
          </a:xfrm>
          <a:prstGeom prst="rect">
            <a:avLst/>
          </a:prstGeom>
          <a:noFill/>
          <a:ln>
            <a:noFill/>
          </a:ln>
        </p:spPr>
        <p:txBody>
          <a:bodyPr spcFirstLastPara="1" wrap="square" lIns="0" tIns="0" rIns="0" bIns="0" anchor="t" anchorCtr="0">
            <a:noAutofit/>
          </a:bodyPr>
          <a:lstStyle/>
          <a:p>
            <a:pPr marL="0" marR="0" lvl="0" indent="0" algn="l" rtl="0">
              <a:lnSpc>
                <a:spcPct val="125661"/>
              </a:lnSpc>
              <a:spcBef>
                <a:spcPts val="0"/>
              </a:spcBef>
              <a:spcAft>
                <a:spcPts val="0"/>
              </a:spcAft>
              <a:buClr>
                <a:srgbClr val="384653"/>
              </a:buClr>
              <a:buSzPts val="1625"/>
              <a:buFont typeface="Barlow"/>
              <a:buNone/>
            </a:pPr>
            <a:r>
              <a:rPr lang="en-US" sz="1625" b="1" i="0" u="none" strike="noStrike" cap="none">
                <a:solidFill>
                  <a:srgbClr val="384653"/>
                </a:solidFill>
                <a:latin typeface="Barlow"/>
                <a:ea typeface="Barlow"/>
                <a:cs typeface="Barlow"/>
                <a:sym typeface="Barlow"/>
              </a:rPr>
              <a:t>Weather API Integration</a:t>
            </a:r>
            <a:endParaRPr sz="1625" b="0" i="0" u="none" strike="noStrike" cap="none">
              <a:solidFill>
                <a:schemeClr val="dk1"/>
              </a:solidFill>
              <a:latin typeface="Arial"/>
              <a:ea typeface="Arial"/>
              <a:cs typeface="Arial"/>
              <a:sym typeface="Arial"/>
            </a:endParaRPr>
          </a:p>
        </p:txBody>
      </p:sp>
      <p:sp>
        <p:nvSpPr>
          <p:cNvPr id="424" name="Google Shape;424;p37"/>
          <p:cNvSpPr/>
          <p:nvPr/>
        </p:nvSpPr>
        <p:spPr>
          <a:xfrm>
            <a:off x="1156295" y="2794595"/>
            <a:ext cx="10477401" cy="255191"/>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384653"/>
              </a:buClr>
              <a:buSzPts val="1250"/>
              <a:buFont typeface="Montserrat"/>
              <a:buNone/>
            </a:pPr>
            <a:r>
              <a:rPr lang="en-US" sz="1250" b="0" i="0" u="none" strike="noStrike" cap="none">
                <a:solidFill>
                  <a:srgbClr val="384653"/>
                </a:solidFill>
                <a:latin typeface="Montserrat"/>
                <a:ea typeface="Montserrat"/>
                <a:cs typeface="Montserrat"/>
                <a:sym typeface="Montserrat"/>
              </a:rPr>
              <a:t>Accessing real-time weather forecasts to prevent spraying during rainfall or unfavourable conditions, ensuring resource efficiency.</a:t>
            </a:r>
            <a:endParaRPr sz="1250" b="0" i="0" u="none" strike="noStrike" cap="none">
              <a:solidFill>
                <a:schemeClr val="dk1"/>
              </a:solidFill>
              <a:latin typeface="Arial"/>
              <a:ea typeface="Arial"/>
              <a:cs typeface="Arial"/>
              <a:sym typeface="Arial"/>
            </a:endParaRPr>
          </a:p>
        </p:txBody>
      </p:sp>
      <p:sp>
        <p:nvSpPr>
          <p:cNvPr id="425" name="Google Shape;425;p37"/>
          <p:cNvSpPr/>
          <p:nvPr/>
        </p:nvSpPr>
        <p:spPr>
          <a:xfrm>
            <a:off x="1036836" y="3209231"/>
            <a:ext cx="119558" cy="613271"/>
          </a:xfrm>
          <a:prstGeom prst="roundRect">
            <a:avLst>
              <a:gd name="adj" fmla="val 200155"/>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37"/>
          <p:cNvSpPr/>
          <p:nvPr/>
        </p:nvSpPr>
        <p:spPr>
          <a:xfrm>
            <a:off x="1395611" y="3209231"/>
            <a:ext cx="2182713" cy="262433"/>
          </a:xfrm>
          <a:prstGeom prst="rect">
            <a:avLst/>
          </a:prstGeom>
          <a:noFill/>
          <a:ln>
            <a:noFill/>
          </a:ln>
        </p:spPr>
        <p:txBody>
          <a:bodyPr spcFirstLastPara="1" wrap="square" lIns="0" tIns="0" rIns="0" bIns="0" anchor="t" anchorCtr="0">
            <a:noAutofit/>
          </a:bodyPr>
          <a:lstStyle/>
          <a:p>
            <a:pPr marL="0" marR="0" lvl="0" indent="0" algn="l" rtl="0">
              <a:lnSpc>
                <a:spcPct val="125661"/>
              </a:lnSpc>
              <a:spcBef>
                <a:spcPts val="0"/>
              </a:spcBef>
              <a:spcAft>
                <a:spcPts val="0"/>
              </a:spcAft>
              <a:buClr>
                <a:srgbClr val="384653"/>
              </a:buClr>
              <a:buSzPts val="1625"/>
              <a:buFont typeface="Barlow"/>
              <a:buNone/>
            </a:pPr>
            <a:r>
              <a:rPr lang="en-US" sz="1625" b="1" i="0" u="none" strike="noStrike" cap="none">
                <a:solidFill>
                  <a:srgbClr val="384653"/>
                </a:solidFill>
                <a:latin typeface="Barlow"/>
                <a:ea typeface="Barlow"/>
                <a:cs typeface="Barlow"/>
                <a:sym typeface="Barlow"/>
              </a:rPr>
              <a:t>Solar Power Integration</a:t>
            </a:r>
            <a:endParaRPr sz="1625" b="0" i="0" u="none" strike="noStrike" cap="none">
              <a:solidFill>
                <a:schemeClr val="dk1"/>
              </a:solidFill>
              <a:latin typeface="Arial"/>
              <a:ea typeface="Arial"/>
              <a:cs typeface="Arial"/>
              <a:sym typeface="Arial"/>
            </a:endParaRPr>
          </a:p>
        </p:txBody>
      </p:sp>
      <p:sp>
        <p:nvSpPr>
          <p:cNvPr id="427" name="Google Shape;427;p37"/>
          <p:cNvSpPr/>
          <p:nvPr/>
        </p:nvSpPr>
        <p:spPr>
          <a:xfrm>
            <a:off x="1395611" y="3567311"/>
            <a:ext cx="10238085" cy="255191"/>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384653"/>
              </a:buClr>
              <a:buSzPts val="1250"/>
              <a:buFont typeface="Montserrat"/>
              <a:buNone/>
            </a:pPr>
            <a:r>
              <a:rPr lang="en-US" sz="1250" b="0" i="0" u="none" strike="noStrike" cap="none">
                <a:solidFill>
                  <a:srgbClr val="384653"/>
                </a:solidFill>
                <a:latin typeface="Montserrat"/>
                <a:ea typeface="Montserrat"/>
                <a:cs typeface="Montserrat"/>
                <a:sym typeface="Montserrat"/>
              </a:rPr>
              <a:t>Incorporating solar panels for off-grid operation, making the system ideal for remote fields lacking reliable power infrastructure.</a:t>
            </a:r>
            <a:endParaRPr sz="1250" b="0" i="0" u="none" strike="noStrike" cap="none">
              <a:solidFill>
                <a:schemeClr val="dk1"/>
              </a:solidFill>
              <a:latin typeface="Arial"/>
              <a:ea typeface="Arial"/>
              <a:cs typeface="Arial"/>
              <a:sym typeface="Arial"/>
            </a:endParaRPr>
          </a:p>
        </p:txBody>
      </p:sp>
      <p:sp>
        <p:nvSpPr>
          <p:cNvPr id="428" name="Google Shape;428;p37"/>
          <p:cNvSpPr/>
          <p:nvPr/>
        </p:nvSpPr>
        <p:spPr>
          <a:xfrm>
            <a:off x="1276152" y="3981946"/>
            <a:ext cx="119558" cy="868462"/>
          </a:xfrm>
          <a:prstGeom prst="roundRect">
            <a:avLst>
              <a:gd name="adj" fmla="val 200155"/>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p37"/>
          <p:cNvSpPr/>
          <p:nvPr/>
        </p:nvSpPr>
        <p:spPr>
          <a:xfrm>
            <a:off x="1634927" y="3981946"/>
            <a:ext cx="2099072" cy="262433"/>
          </a:xfrm>
          <a:prstGeom prst="rect">
            <a:avLst/>
          </a:prstGeom>
          <a:noFill/>
          <a:ln>
            <a:noFill/>
          </a:ln>
        </p:spPr>
        <p:txBody>
          <a:bodyPr spcFirstLastPara="1" wrap="square" lIns="0" tIns="0" rIns="0" bIns="0" anchor="t" anchorCtr="0">
            <a:noAutofit/>
          </a:bodyPr>
          <a:lstStyle/>
          <a:p>
            <a:pPr marL="0" marR="0" lvl="0" indent="0" algn="l" rtl="0">
              <a:lnSpc>
                <a:spcPct val="125661"/>
              </a:lnSpc>
              <a:spcBef>
                <a:spcPts val="0"/>
              </a:spcBef>
              <a:spcAft>
                <a:spcPts val="0"/>
              </a:spcAft>
              <a:buClr>
                <a:srgbClr val="384653"/>
              </a:buClr>
              <a:buSzPts val="1625"/>
              <a:buFont typeface="Barlow"/>
              <a:buNone/>
            </a:pPr>
            <a:r>
              <a:rPr lang="en-US" sz="1625" b="1" i="0" u="none" strike="noStrike" cap="none">
                <a:solidFill>
                  <a:srgbClr val="384653"/>
                </a:solidFill>
                <a:latin typeface="Barlow"/>
                <a:ea typeface="Barlow"/>
                <a:cs typeface="Barlow"/>
                <a:sym typeface="Barlow"/>
              </a:rPr>
              <a:t>Offline Local Control</a:t>
            </a:r>
            <a:endParaRPr sz="1625" b="0" i="0" u="none" strike="noStrike" cap="none">
              <a:solidFill>
                <a:schemeClr val="dk1"/>
              </a:solidFill>
              <a:latin typeface="Arial"/>
              <a:ea typeface="Arial"/>
              <a:cs typeface="Arial"/>
              <a:sym typeface="Arial"/>
            </a:endParaRPr>
          </a:p>
        </p:txBody>
      </p:sp>
      <p:sp>
        <p:nvSpPr>
          <p:cNvPr id="430" name="Google Shape;430;p37"/>
          <p:cNvSpPr/>
          <p:nvPr/>
        </p:nvSpPr>
        <p:spPr>
          <a:xfrm>
            <a:off x="1634927" y="4340027"/>
            <a:ext cx="9998769" cy="510382"/>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384653"/>
              </a:buClr>
              <a:buSzPts val="1250"/>
              <a:buFont typeface="Montserrat"/>
              <a:buNone/>
            </a:pPr>
            <a:r>
              <a:rPr lang="en-US" sz="1250" b="0" i="0" u="none" strike="noStrike" cap="none">
                <a:solidFill>
                  <a:srgbClr val="384653"/>
                </a:solidFill>
                <a:latin typeface="Montserrat"/>
                <a:ea typeface="Montserrat"/>
                <a:cs typeface="Montserrat"/>
                <a:sym typeface="Montserrat"/>
              </a:rPr>
              <a:t>Introducing fallback options like Bluetooth or physical pushbuttons for control during internet outages, enhancing system resilience.</a:t>
            </a:r>
            <a:endParaRPr sz="1250" b="0" i="0" u="none" strike="noStrike" cap="none">
              <a:solidFill>
                <a:schemeClr val="dk1"/>
              </a:solidFill>
              <a:latin typeface="Arial"/>
              <a:ea typeface="Arial"/>
              <a:cs typeface="Arial"/>
              <a:sym typeface="Arial"/>
            </a:endParaRPr>
          </a:p>
        </p:txBody>
      </p:sp>
      <p:sp>
        <p:nvSpPr>
          <p:cNvPr id="431" name="Google Shape;431;p37"/>
          <p:cNvSpPr/>
          <p:nvPr/>
        </p:nvSpPr>
        <p:spPr>
          <a:xfrm>
            <a:off x="1036836" y="5009852"/>
            <a:ext cx="119558" cy="868462"/>
          </a:xfrm>
          <a:prstGeom prst="roundRect">
            <a:avLst>
              <a:gd name="adj" fmla="val 200155"/>
            </a:avLst>
          </a:prstGeom>
          <a:solidFill>
            <a:srgbClr val="D4E9F7"/>
          </a:solidFill>
          <a:ln w="9525" cap="flat" cmpd="sng">
            <a:solidFill>
              <a:srgbClr val="BACF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p37"/>
          <p:cNvSpPr/>
          <p:nvPr/>
        </p:nvSpPr>
        <p:spPr>
          <a:xfrm>
            <a:off x="1395611" y="5009853"/>
            <a:ext cx="2354758" cy="262433"/>
          </a:xfrm>
          <a:prstGeom prst="rect">
            <a:avLst/>
          </a:prstGeom>
          <a:noFill/>
          <a:ln>
            <a:noFill/>
          </a:ln>
        </p:spPr>
        <p:txBody>
          <a:bodyPr spcFirstLastPara="1" wrap="square" lIns="0" tIns="0" rIns="0" bIns="0" anchor="t" anchorCtr="0">
            <a:noAutofit/>
          </a:bodyPr>
          <a:lstStyle/>
          <a:p>
            <a:pPr marL="0" marR="0" lvl="0" indent="0" algn="l" rtl="0">
              <a:lnSpc>
                <a:spcPct val="125661"/>
              </a:lnSpc>
              <a:spcBef>
                <a:spcPts val="0"/>
              </a:spcBef>
              <a:spcAft>
                <a:spcPts val="0"/>
              </a:spcAft>
              <a:buClr>
                <a:srgbClr val="384653"/>
              </a:buClr>
              <a:buSzPts val="1625"/>
              <a:buFont typeface="Barlow"/>
              <a:buNone/>
            </a:pPr>
            <a:r>
              <a:rPr lang="en-US" sz="1625" b="1" i="0" u="none" strike="noStrike" cap="none">
                <a:solidFill>
                  <a:srgbClr val="384653"/>
                </a:solidFill>
                <a:latin typeface="Barlow"/>
                <a:ea typeface="Barlow"/>
                <a:cs typeface="Barlow"/>
                <a:sym typeface="Barlow"/>
              </a:rPr>
              <a:t>Mobile App Enhancement</a:t>
            </a:r>
            <a:endParaRPr sz="1625" b="0" i="0" u="none" strike="noStrike" cap="none">
              <a:solidFill>
                <a:schemeClr val="dk1"/>
              </a:solidFill>
              <a:latin typeface="Arial"/>
              <a:ea typeface="Arial"/>
              <a:cs typeface="Arial"/>
              <a:sym typeface="Arial"/>
            </a:endParaRPr>
          </a:p>
        </p:txBody>
      </p:sp>
      <p:sp>
        <p:nvSpPr>
          <p:cNvPr id="433" name="Google Shape;433;p37"/>
          <p:cNvSpPr/>
          <p:nvPr/>
        </p:nvSpPr>
        <p:spPr>
          <a:xfrm>
            <a:off x="1395611" y="5367932"/>
            <a:ext cx="10238085" cy="510382"/>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384653"/>
              </a:buClr>
              <a:buSzPts val="1250"/>
              <a:buFont typeface="Montserrat"/>
              <a:buNone/>
            </a:pPr>
            <a:r>
              <a:rPr lang="en-US" sz="1250" b="0" i="0" u="none" strike="noStrike" cap="none">
                <a:solidFill>
                  <a:srgbClr val="384653"/>
                </a:solidFill>
                <a:latin typeface="Montserrat"/>
                <a:ea typeface="Montserrat"/>
                <a:cs typeface="Montserrat"/>
                <a:sym typeface="Montserrat"/>
              </a:rPr>
              <a:t>Upgrading the mobile interface with graphical dashboards, voice command support, multi-zone control, and scheduled spraying features.</a:t>
            </a:r>
            <a:endParaRPr sz="1250" b="0" i="0" u="none" strike="noStrike" cap="none">
              <a:solidFill>
                <a:schemeClr val="dk1"/>
              </a:solidFill>
              <a:latin typeface="Arial"/>
              <a:ea typeface="Arial"/>
              <a:cs typeface="Arial"/>
              <a:sym typeface="Arial"/>
            </a:endParaRPr>
          </a:p>
        </p:txBody>
      </p:sp>
      <p:pic>
        <p:nvPicPr>
          <p:cNvPr id="434" name="Google Shape;434;p37" descr="A white background with black dots&#10;&#10;AI-generated content may be incorrect."/>
          <p:cNvPicPr preferRelativeResize="0"/>
          <p:nvPr/>
        </p:nvPicPr>
        <p:blipFill rotWithShape="1">
          <a:blip r:embed="rId3">
            <a:alphaModFix/>
          </a:blip>
          <a:srcRect/>
          <a:stretch/>
        </p:blipFill>
        <p:spPr>
          <a:xfrm>
            <a:off x="9886950" y="6283699"/>
            <a:ext cx="2301689" cy="57710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1500</Words>
  <Application>Microsoft Office PowerPoint</Application>
  <PresentationFormat>Widescreen</PresentationFormat>
  <Paragraphs>164</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Barlow</vt:lpstr>
      <vt:lpstr>Play</vt:lpstr>
      <vt:lpstr>Times New Roman</vt:lpstr>
      <vt:lpstr>Franklin Gothic</vt:lpstr>
      <vt:lpstr>Calibri</vt:lpstr>
      <vt:lpstr>Arial</vt:lpstr>
      <vt:lpstr>Montserrat</vt:lpstr>
      <vt:lpstr>office theme</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Anurag Kumar</cp:lastModifiedBy>
  <cp:revision>1</cp:revision>
  <dcterms:modified xsi:type="dcterms:W3CDTF">2025-12-11T20:36:38Z</dcterms:modified>
</cp:coreProperties>
</file>